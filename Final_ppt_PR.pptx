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8229600" cx="14630400"/>
  <p:notesSz cx="8229600" cy="14630400"/>
  <p:embeddedFontLst>
    <p:embeddedFont>
      <p:font typeface="ADLaM Display"/>
      <p:regular r:id="rId30"/>
    </p:embeddedFont>
    <p:embeddedFont>
      <p:font typeface="La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9100FA-C009-4A55-A7E8-944A87B3DE17}">
  <a:tblStyle styleId="{A99100FA-C009-4A55-A7E8-944A87B3DE1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48E66F0-F909-4E49-8C96-94DA8A145F9E}"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ADLaMDisplay-regular.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 name="Google Shape;45;p1: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2: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3: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4: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6: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5: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9: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6f69267e99_0_1: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6f69267e99_0_1: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0: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11: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12: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0e8a18c0a_3_9: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70e8a18c0a_3_9: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3: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13: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4: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14: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5: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p15: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16: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7: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7: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18: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9:notes"/>
          <p:cNvSpPr/>
          <p:nvPr>
            <p:ph idx="2" type="sldImg"/>
          </p:nvPr>
        </p:nvSpPr>
        <p:spPr>
          <a:xfrm>
            <a:off x="-762000" y="1096963"/>
            <a:ext cx="97536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0: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20: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1: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p21: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3: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23: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layout">
  <p:cSld name="End slide layout">
    <p:bg>
      <p:bgPr>
        <a:solidFill>
          <a:schemeClr val="lt1"/>
        </a:solidFill>
      </p:bgPr>
    </p:bg>
    <p:spTree>
      <p:nvGrpSpPr>
        <p:cNvPr id="6" name="Shape 6"/>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blipFill>
          <a:blip r:embed="rId2">
            <a:alphaModFix/>
          </a:blip>
          <a:stretch>
            <a:fillRect/>
          </a:stretch>
        </a:blipFill>
      </p:bgPr>
    </p:bg>
    <p:spTree>
      <p:nvGrpSpPr>
        <p:cNvPr id="7" name="Shape 7"/>
        <p:cNvGrpSpPr/>
        <p:nvPr/>
      </p:nvGrpSpPr>
      <p:grpSpPr>
        <a:xfrm>
          <a:off x="0" y="0"/>
          <a:ext cx="0" cy="0"/>
          <a:chOff x="0" y="0"/>
          <a:chExt cx="0" cy="0"/>
        </a:xfrm>
      </p:grpSpPr>
      <p:grpSp>
        <p:nvGrpSpPr>
          <p:cNvPr id="8" name="Google Shape;8;p3"/>
          <p:cNvGrpSpPr/>
          <p:nvPr/>
        </p:nvGrpSpPr>
        <p:grpSpPr>
          <a:xfrm flipH="1" rot="7195275">
            <a:off x="11247338" y="6712434"/>
            <a:ext cx="1993343" cy="2577601"/>
            <a:chOff x="5710110" y="861237"/>
            <a:chExt cx="2762761" cy="3572539"/>
          </a:xfrm>
        </p:grpSpPr>
        <p:sp>
          <p:nvSpPr>
            <p:cNvPr id="9" name="Google Shape;9;p3"/>
            <p:cNvSpPr/>
            <p:nvPr/>
          </p:nvSpPr>
          <p:spPr>
            <a:xfrm>
              <a:off x="6400800" y="2052084"/>
              <a:ext cx="1381381" cy="1190846"/>
            </a:xfrm>
            <a:prstGeom prst="triangle">
              <a:avLst>
                <a:gd fmla="val 50000"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60"/>
                <a:buFont typeface="Arial"/>
                <a:buNone/>
              </a:pPr>
              <a:r>
                <a:t/>
              </a:r>
              <a:endParaRPr b="0" i="0" sz="2160" u="none" cap="none" strike="noStrike">
                <a:solidFill>
                  <a:schemeClr val="lt1"/>
                </a:solidFill>
                <a:latin typeface="Calibri"/>
                <a:ea typeface="Calibri"/>
                <a:cs typeface="Calibri"/>
                <a:sym typeface="Calibri"/>
              </a:endParaRPr>
            </a:p>
          </p:txBody>
        </p:sp>
        <p:sp>
          <p:nvSpPr>
            <p:cNvPr id="10" name="Google Shape;10;p3"/>
            <p:cNvSpPr/>
            <p:nvPr/>
          </p:nvSpPr>
          <p:spPr>
            <a:xfrm rot="10800000">
              <a:off x="7091490" y="2052084"/>
              <a:ext cx="1381381" cy="1190846"/>
            </a:xfrm>
            <a:prstGeom prst="triangle">
              <a:avLst>
                <a:gd fmla="val 50000" name="adj"/>
              </a:avLst>
            </a:prstGeom>
            <a:solidFill>
              <a:schemeClr val="lt1">
                <a:alpha val="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60"/>
                <a:buFont typeface="Arial"/>
                <a:buNone/>
              </a:pPr>
              <a:r>
                <a:t/>
              </a:r>
              <a:endParaRPr b="0" i="0" sz="2160" u="none" cap="none" strike="noStrike">
                <a:solidFill>
                  <a:schemeClr val="lt1"/>
                </a:solidFill>
                <a:latin typeface="Calibri"/>
                <a:ea typeface="Calibri"/>
                <a:cs typeface="Calibri"/>
                <a:sym typeface="Calibri"/>
              </a:endParaRPr>
            </a:p>
          </p:txBody>
        </p:sp>
        <p:sp>
          <p:nvSpPr>
            <p:cNvPr id="11" name="Google Shape;11;p3"/>
            <p:cNvSpPr/>
            <p:nvPr/>
          </p:nvSpPr>
          <p:spPr>
            <a:xfrm>
              <a:off x="5710110" y="3232297"/>
              <a:ext cx="1381381" cy="1190846"/>
            </a:xfrm>
            <a:prstGeom prst="triangle">
              <a:avLst>
                <a:gd fmla="val 50000" name="adj"/>
              </a:avLst>
            </a:prstGeom>
            <a:solidFill>
              <a:schemeClr val="l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60"/>
                <a:buFont typeface="Arial"/>
                <a:buNone/>
              </a:pPr>
              <a:r>
                <a:t/>
              </a:r>
              <a:endParaRPr b="0" i="0" sz="2160" u="none" cap="none" strike="noStrike">
                <a:solidFill>
                  <a:schemeClr val="lt1"/>
                </a:solidFill>
                <a:latin typeface="Calibri"/>
                <a:ea typeface="Calibri"/>
                <a:cs typeface="Calibri"/>
                <a:sym typeface="Calibri"/>
              </a:endParaRPr>
            </a:p>
          </p:txBody>
        </p:sp>
        <p:sp>
          <p:nvSpPr>
            <p:cNvPr id="12" name="Google Shape;12;p3"/>
            <p:cNvSpPr/>
            <p:nvPr/>
          </p:nvSpPr>
          <p:spPr>
            <a:xfrm rot="10800000">
              <a:off x="6400800" y="3232297"/>
              <a:ext cx="1381381" cy="1190846"/>
            </a:xfrm>
            <a:prstGeom prst="triangle">
              <a:avLst>
                <a:gd fmla="val 50000" name="adj"/>
              </a:avLst>
            </a:prstGeom>
            <a:solidFill>
              <a:schemeClr val="lt1">
                <a:alpha val="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60"/>
                <a:buFont typeface="Arial"/>
                <a:buNone/>
              </a:pPr>
              <a:r>
                <a:t/>
              </a:r>
              <a:endParaRPr b="0" i="0" sz="2160" u="none" cap="none" strike="noStrike">
                <a:solidFill>
                  <a:schemeClr val="lt1"/>
                </a:solidFill>
                <a:latin typeface="Calibri"/>
                <a:ea typeface="Calibri"/>
                <a:cs typeface="Calibri"/>
                <a:sym typeface="Calibri"/>
              </a:endParaRPr>
            </a:p>
          </p:txBody>
        </p:sp>
        <p:sp>
          <p:nvSpPr>
            <p:cNvPr id="13" name="Google Shape;13;p3"/>
            <p:cNvSpPr/>
            <p:nvPr/>
          </p:nvSpPr>
          <p:spPr>
            <a:xfrm>
              <a:off x="7091490" y="3242930"/>
              <a:ext cx="1381381" cy="1190846"/>
            </a:xfrm>
            <a:prstGeom prst="triangle">
              <a:avLst>
                <a:gd fmla="val 50000" name="adj"/>
              </a:avLst>
            </a:prstGeom>
            <a:solidFill>
              <a:schemeClr val="lt1">
                <a:alpha val="2627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60"/>
                <a:buFont typeface="Arial"/>
                <a:buNone/>
              </a:pPr>
              <a:r>
                <a:t/>
              </a:r>
              <a:endParaRPr b="0" i="0" sz="2160" u="none" cap="none" strike="noStrike">
                <a:solidFill>
                  <a:schemeClr val="lt1"/>
                </a:solidFill>
                <a:latin typeface="Calibri"/>
                <a:ea typeface="Calibri"/>
                <a:cs typeface="Calibri"/>
                <a:sym typeface="Calibri"/>
              </a:endParaRPr>
            </a:p>
          </p:txBody>
        </p:sp>
        <p:sp>
          <p:nvSpPr>
            <p:cNvPr id="14" name="Google Shape;14;p3"/>
            <p:cNvSpPr/>
            <p:nvPr/>
          </p:nvSpPr>
          <p:spPr>
            <a:xfrm>
              <a:off x="7091490" y="861237"/>
              <a:ext cx="1381381" cy="1190846"/>
            </a:xfrm>
            <a:prstGeom prst="triangle">
              <a:avLst>
                <a:gd fmla="val 50000" name="adj"/>
              </a:avLst>
            </a:prstGeom>
            <a:solidFill>
              <a:schemeClr val="lt1">
                <a:alpha val="1450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160"/>
                <a:buFont typeface="Arial"/>
                <a:buNone/>
              </a:pPr>
              <a:r>
                <a:t/>
              </a:r>
              <a:endParaRPr b="0" i="0" sz="2160" u="none" cap="none" strike="noStrike">
                <a:solidFill>
                  <a:schemeClr val="lt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6" name="Shape 16"/>
        <p:cNvGrpSpPr/>
        <p:nvPr/>
      </p:nvGrpSpPr>
      <p:grpSpPr>
        <a:xfrm>
          <a:off x="0" y="0"/>
          <a:ext cx="0" cy="0"/>
          <a:chOff x="0" y="0"/>
          <a:chExt cx="0" cy="0"/>
        </a:xfrm>
      </p:grpSpPr>
      <p:sp>
        <p:nvSpPr>
          <p:cNvPr id="17" name="Google Shape;17;p5"/>
          <p:cNvSpPr/>
          <p:nvPr/>
        </p:nvSpPr>
        <p:spPr>
          <a:xfrm>
            <a:off x="0" y="0"/>
            <a:ext cx="14630400" cy="8229600"/>
          </a:xfrm>
          <a:prstGeom prst="rect">
            <a:avLst/>
          </a:prstGeom>
          <a:solidFill>
            <a:srgbClr val="DDD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5"/>
          <p:cNvSpPr/>
          <p:nvPr/>
        </p:nvSpPr>
        <p:spPr>
          <a:xfrm>
            <a:off x="0" y="0"/>
            <a:ext cx="14630400" cy="8229600"/>
          </a:xfrm>
          <a:prstGeom prst="rect">
            <a:avLst/>
          </a:prstGeom>
          <a:solidFill>
            <a:srgbClr val="EFEC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9" name="Shape 19"/>
        <p:cNvGrpSpPr/>
        <p:nvPr/>
      </p:nvGrpSpPr>
      <p:grpSpPr>
        <a:xfrm>
          <a:off x="0" y="0"/>
          <a:ext cx="0" cy="0"/>
          <a:chOff x="0" y="0"/>
          <a:chExt cx="0" cy="0"/>
        </a:xfrm>
      </p:grpSpPr>
      <p:sp>
        <p:nvSpPr>
          <p:cNvPr id="20" name="Google Shape;20;p6"/>
          <p:cNvSpPr/>
          <p:nvPr/>
        </p:nvSpPr>
        <p:spPr>
          <a:xfrm>
            <a:off x="0" y="0"/>
            <a:ext cx="14630400" cy="8229600"/>
          </a:xfrm>
          <a:prstGeom prst="rect">
            <a:avLst/>
          </a:prstGeom>
          <a:solidFill>
            <a:srgbClr val="DDD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6"/>
          <p:cNvSpPr/>
          <p:nvPr/>
        </p:nvSpPr>
        <p:spPr>
          <a:xfrm>
            <a:off x="0" y="0"/>
            <a:ext cx="14630400" cy="8229600"/>
          </a:xfrm>
          <a:prstGeom prst="rect">
            <a:avLst/>
          </a:prstGeom>
          <a:solidFill>
            <a:srgbClr val="EFEC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22" name="Shape 22"/>
        <p:cNvGrpSpPr/>
        <p:nvPr/>
      </p:nvGrpSpPr>
      <p:grpSpPr>
        <a:xfrm>
          <a:off x="0" y="0"/>
          <a:ext cx="0" cy="0"/>
          <a:chOff x="0" y="0"/>
          <a:chExt cx="0" cy="0"/>
        </a:xfrm>
      </p:grpSpPr>
      <p:sp>
        <p:nvSpPr>
          <p:cNvPr id="23" name="Google Shape;23;p7"/>
          <p:cNvSpPr/>
          <p:nvPr/>
        </p:nvSpPr>
        <p:spPr>
          <a:xfrm>
            <a:off x="0" y="0"/>
            <a:ext cx="14630400" cy="8229600"/>
          </a:xfrm>
          <a:prstGeom prst="rect">
            <a:avLst/>
          </a:prstGeom>
          <a:solidFill>
            <a:srgbClr val="DDD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7"/>
          <p:cNvSpPr/>
          <p:nvPr/>
        </p:nvSpPr>
        <p:spPr>
          <a:xfrm>
            <a:off x="0" y="0"/>
            <a:ext cx="14630400" cy="8229600"/>
          </a:xfrm>
          <a:prstGeom prst="rect">
            <a:avLst/>
          </a:prstGeom>
          <a:solidFill>
            <a:srgbClr val="EFEC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25" name="Shape 25"/>
        <p:cNvGrpSpPr/>
        <p:nvPr/>
      </p:nvGrpSpPr>
      <p:grpSpPr>
        <a:xfrm>
          <a:off x="0" y="0"/>
          <a:ext cx="0" cy="0"/>
          <a:chOff x="0" y="0"/>
          <a:chExt cx="0" cy="0"/>
        </a:xfrm>
      </p:grpSpPr>
      <p:sp>
        <p:nvSpPr>
          <p:cNvPr id="26" name="Google Shape;26;p8"/>
          <p:cNvSpPr/>
          <p:nvPr/>
        </p:nvSpPr>
        <p:spPr>
          <a:xfrm>
            <a:off x="0" y="0"/>
            <a:ext cx="14630400" cy="8229600"/>
          </a:xfrm>
          <a:prstGeom prst="rect">
            <a:avLst/>
          </a:prstGeom>
          <a:solidFill>
            <a:srgbClr val="DDD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8"/>
          <p:cNvSpPr/>
          <p:nvPr/>
        </p:nvSpPr>
        <p:spPr>
          <a:xfrm>
            <a:off x="0" y="0"/>
            <a:ext cx="14630400" cy="8229600"/>
          </a:xfrm>
          <a:prstGeom prst="rect">
            <a:avLst/>
          </a:prstGeom>
          <a:solidFill>
            <a:srgbClr val="EFEC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8" name="Shape 28"/>
        <p:cNvGrpSpPr/>
        <p:nvPr/>
      </p:nvGrpSpPr>
      <p:grpSpPr>
        <a:xfrm>
          <a:off x="0" y="0"/>
          <a:ext cx="0" cy="0"/>
          <a:chOff x="0" y="0"/>
          <a:chExt cx="0" cy="0"/>
        </a:xfrm>
      </p:grpSpPr>
      <p:sp>
        <p:nvSpPr>
          <p:cNvPr id="29" name="Google Shape;29;p9"/>
          <p:cNvSpPr/>
          <p:nvPr/>
        </p:nvSpPr>
        <p:spPr>
          <a:xfrm>
            <a:off x="0" y="0"/>
            <a:ext cx="14630400" cy="8229600"/>
          </a:xfrm>
          <a:prstGeom prst="rect">
            <a:avLst/>
          </a:prstGeom>
          <a:solidFill>
            <a:srgbClr val="DDD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9"/>
          <p:cNvSpPr/>
          <p:nvPr/>
        </p:nvSpPr>
        <p:spPr>
          <a:xfrm>
            <a:off x="0" y="0"/>
            <a:ext cx="14630400" cy="8229600"/>
          </a:xfrm>
          <a:prstGeom prst="rect">
            <a:avLst/>
          </a:prstGeom>
          <a:solidFill>
            <a:srgbClr val="EFEC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31" name="Shape 31"/>
        <p:cNvGrpSpPr/>
        <p:nvPr/>
      </p:nvGrpSpPr>
      <p:grpSpPr>
        <a:xfrm>
          <a:off x="0" y="0"/>
          <a:ext cx="0" cy="0"/>
          <a:chOff x="0" y="0"/>
          <a:chExt cx="0" cy="0"/>
        </a:xfrm>
      </p:grpSpPr>
      <p:sp>
        <p:nvSpPr>
          <p:cNvPr id="32" name="Google Shape;32;p10"/>
          <p:cNvSpPr/>
          <p:nvPr/>
        </p:nvSpPr>
        <p:spPr>
          <a:xfrm>
            <a:off x="0" y="0"/>
            <a:ext cx="14630400" cy="8229600"/>
          </a:xfrm>
          <a:prstGeom prst="rect">
            <a:avLst/>
          </a:prstGeom>
          <a:solidFill>
            <a:srgbClr val="DDD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0"/>
          <p:cNvSpPr/>
          <p:nvPr/>
        </p:nvSpPr>
        <p:spPr>
          <a:xfrm>
            <a:off x="0" y="0"/>
            <a:ext cx="14630400" cy="8229600"/>
          </a:xfrm>
          <a:prstGeom prst="rect">
            <a:avLst/>
          </a:prstGeom>
          <a:solidFill>
            <a:srgbClr val="EFEC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34" name="Shape 34"/>
        <p:cNvGrpSpPr/>
        <p:nvPr/>
      </p:nvGrpSpPr>
      <p:grpSpPr>
        <a:xfrm>
          <a:off x="0" y="0"/>
          <a:ext cx="0" cy="0"/>
          <a:chOff x="0" y="0"/>
          <a:chExt cx="0" cy="0"/>
        </a:xfrm>
      </p:grpSpPr>
      <p:sp>
        <p:nvSpPr>
          <p:cNvPr id="35" name="Google Shape;35;p11"/>
          <p:cNvSpPr/>
          <p:nvPr/>
        </p:nvSpPr>
        <p:spPr>
          <a:xfrm>
            <a:off x="0" y="0"/>
            <a:ext cx="14630400" cy="8229600"/>
          </a:xfrm>
          <a:prstGeom prst="rect">
            <a:avLst/>
          </a:prstGeom>
          <a:solidFill>
            <a:srgbClr val="DDD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1"/>
          <p:cNvSpPr/>
          <p:nvPr/>
        </p:nvSpPr>
        <p:spPr>
          <a:xfrm>
            <a:off x="0" y="0"/>
            <a:ext cx="14630400" cy="8229600"/>
          </a:xfrm>
          <a:prstGeom prst="rect">
            <a:avLst/>
          </a:prstGeom>
          <a:solidFill>
            <a:srgbClr val="EFEC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7" name="Shape 37"/>
        <p:cNvGrpSpPr/>
        <p:nvPr/>
      </p:nvGrpSpPr>
      <p:grpSpPr>
        <a:xfrm>
          <a:off x="0" y="0"/>
          <a:ext cx="0" cy="0"/>
          <a:chOff x="0" y="0"/>
          <a:chExt cx="0" cy="0"/>
        </a:xfrm>
      </p:grpSpPr>
      <p:sp>
        <p:nvSpPr>
          <p:cNvPr id="38" name="Google Shape;38;p12"/>
          <p:cNvSpPr/>
          <p:nvPr/>
        </p:nvSpPr>
        <p:spPr>
          <a:xfrm>
            <a:off x="0" y="0"/>
            <a:ext cx="14630400" cy="8229600"/>
          </a:xfrm>
          <a:prstGeom prst="rect">
            <a:avLst/>
          </a:prstGeom>
          <a:solidFill>
            <a:srgbClr val="DDD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2"/>
          <p:cNvSpPr/>
          <p:nvPr/>
        </p:nvSpPr>
        <p:spPr>
          <a:xfrm>
            <a:off x="0" y="0"/>
            <a:ext cx="14630400" cy="8229600"/>
          </a:xfrm>
          <a:prstGeom prst="rect">
            <a:avLst/>
          </a:prstGeom>
          <a:solidFill>
            <a:srgbClr val="EFEC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40" name="Shape 40"/>
        <p:cNvGrpSpPr/>
        <p:nvPr/>
      </p:nvGrpSpPr>
      <p:grpSpPr>
        <a:xfrm>
          <a:off x="0" y="0"/>
          <a:ext cx="0" cy="0"/>
          <a:chOff x="0" y="0"/>
          <a:chExt cx="0" cy="0"/>
        </a:xfrm>
      </p:grpSpPr>
      <p:sp>
        <p:nvSpPr>
          <p:cNvPr id="41" name="Google Shape;41;p13"/>
          <p:cNvSpPr/>
          <p:nvPr/>
        </p:nvSpPr>
        <p:spPr>
          <a:xfrm>
            <a:off x="0" y="0"/>
            <a:ext cx="14630400" cy="8229600"/>
          </a:xfrm>
          <a:prstGeom prst="rect">
            <a:avLst/>
          </a:prstGeom>
          <a:solidFill>
            <a:srgbClr val="DDD6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3"/>
          <p:cNvSpPr/>
          <p:nvPr/>
        </p:nvSpPr>
        <p:spPr>
          <a:xfrm>
            <a:off x="0" y="0"/>
            <a:ext cx="14630400" cy="8229600"/>
          </a:xfrm>
          <a:prstGeom prst="rect">
            <a:avLst/>
          </a:prstGeom>
          <a:solidFill>
            <a:srgbClr val="EFEC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2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8.jpg"/><Relationship Id="rId5" Type="http://schemas.openxmlformats.org/officeDocument/2006/relationships/image" Target="../media/image23.jpg"/><Relationship Id="rId6" Type="http://schemas.openxmlformats.org/officeDocument/2006/relationships/image" Target="../media/image11.jpg"/><Relationship Id="rId7" Type="http://schemas.openxmlformats.org/officeDocument/2006/relationships/image" Target="../media/image14.jpg"/><Relationship Id="rId8"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15.png"/><Relationship Id="rId5" Type="http://schemas.openxmlformats.org/officeDocument/2006/relationships/image" Target="../media/image23.jpg"/><Relationship Id="rId6" Type="http://schemas.openxmlformats.org/officeDocument/2006/relationships/image" Target="../media/image12.png"/><Relationship Id="rId7" Type="http://schemas.openxmlformats.org/officeDocument/2006/relationships/image" Target="../media/image4.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7.png"/><Relationship Id="rId6"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3.jpg"/><Relationship Id="rId6"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3.jpg"/><Relationship Id="rId5" Type="http://schemas.openxmlformats.org/officeDocument/2006/relationships/image" Target="../media/image7.png"/><Relationship Id="rId6"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drive.google.com/file/d/1w00x_YRZ57gqPs1qzEQYRYPmhJFle6KM/view" TargetMode="External"/><Relationship Id="rId4"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pic>
        <p:nvPicPr>
          <p:cNvPr id="47" name="Google Shape;47;p14"/>
          <p:cNvPicPr preferRelativeResize="0"/>
          <p:nvPr/>
        </p:nvPicPr>
        <p:blipFill rotWithShape="1">
          <a:blip r:embed="rId3">
            <a:alphaModFix/>
          </a:blip>
          <a:srcRect b="0" l="0" r="0" t="0"/>
          <a:stretch/>
        </p:blipFill>
        <p:spPr>
          <a:xfrm>
            <a:off x="13282597" y="185602"/>
            <a:ext cx="973080" cy="1269869"/>
          </a:xfrm>
          <a:prstGeom prst="rect">
            <a:avLst/>
          </a:prstGeom>
          <a:noFill/>
          <a:ln>
            <a:noFill/>
          </a:ln>
        </p:spPr>
      </p:pic>
      <p:pic>
        <p:nvPicPr>
          <p:cNvPr id="48" name="Google Shape;48;p14"/>
          <p:cNvPicPr preferRelativeResize="0"/>
          <p:nvPr/>
        </p:nvPicPr>
        <p:blipFill rotWithShape="1">
          <a:blip r:embed="rId4">
            <a:alphaModFix/>
          </a:blip>
          <a:srcRect b="22946" l="0" r="0" t="14983"/>
          <a:stretch/>
        </p:blipFill>
        <p:spPr>
          <a:xfrm>
            <a:off x="337830" y="283271"/>
            <a:ext cx="1782431" cy="1074532"/>
          </a:xfrm>
          <a:prstGeom prst="rect">
            <a:avLst/>
          </a:prstGeom>
          <a:noFill/>
          <a:ln>
            <a:noFill/>
          </a:ln>
        </p:spPr>
      </p:pic>
      <p:sp>
        <p:nvSpPr>
          <p:cNvPr id="49" name="Google Shape;49;p14"/>
          <p:cNvSpPr txBox="1"/>
          <p:nvPr/>
        </p:nvSpPr>
        <p:spPr>
          <a:xfrm>
            <a:off x="2060629" y="4996758"/>
            <a:ext cx="10509000" cy="13113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320"/>
              <a:buFont typeface="Arial"/>
              <a:buNone/>
            </a:pPr>
            <a:r>
              <a:rPr b="1" i="0" lang="en-US" sz="4320" u="none" cap="none" strike="noStrike">
                <a:solidFill>
                  <a:schemeClr val="lt1"/>
                </a:solidFill>
                <a:latin typeface="Calibri"/>
                <a:ea typeface="Calibri"/>
                <a:cs typeface="Calibri"/>
                <a:sym typeface="Calibri"/>
              </a:rPr>
              <a:t>Personalized Recommendation System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Calibri"/>
                <a:ea typeface="Calibri"/>
                <a:cs typeface="Calibri"/>
                <a:sym typeface="Calibri"/>
              </a:rPr>
              <a:t>Presented by Batch-III interns</a:t>
            </a:r>
            <a:endParaRPr b="0" i="0" sz="1400" u="none" cap="none" strike="noStrike">
              <a:solidFill>
                <a:srgbClr val="000000"/>
              </a:solidFill>
              <a:latin typeface="Arial"/>
              <a:ea typeface="Arial"/>
              <a:cs typeface="Arial"/>
              <a:sym typeface="Arial"/>
            </a:endParaRPr>
          </a:p>
        </p:txBody>
      </p:sp>
      <p:pic>
        <p:nvPicPr>
          <p:cNvPr id="50" name="Google Shape;50;p14"/>
          <p:cNvPicPr preferRelativeResize="0"/>
          <p:nvPr/>
        </p:nvPicPr>
        <p:blipFill rotWithShape="1">
          <a:blip r:embed="rId5">
            <a:alphaModFix/>
          </a:blip>
          <a:srcRect b="0" l="0" r="0" t="0"/>
          <a:stretch/>
        </p:blipFill>
        <p:spPr>
          <a:xfrm>
            <a:off x="5994885" y="1737209"/>
            <a:ext cx="2640600" cy="2555700"/>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568"/>
              </a:srgbClr>
            </a:outerShdw>
          </a:effectLst>
        </p:spPr>
      </p:pic>
      <p:sp>
        <p:nvSpPr>
          <p:cNvPr id="51" name="Google Shape;51;p14"/>
          <p:cNvSpPr txBox="1"/>
          <p:nvPr/>
        </p:nvSpPr>
        <p:spPr>
          <a:xfrm>
            <a:off x="2557579" y="5597258"/>
            <a:ext cx="10509000" cy="13113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320"/>
              <a:buFont typeface="Arial"/>
              <a:buNone/>
            </a:pPr>
            <a:r>
              <a:rPr b="1" i="0" lang="en-US" sz="4320" u="none" cap="none" strike="noStrike">
                <a:solidFill>
                  <a:srgbClr val="000000"/>
                </a:solidFill>
                <a:latin typeface="Calibri"/>
                <a:ea typeface="Calibri"/>
                <a:cs typeface="Calibri"/>
                <a:sym typeface="Calibri"/>
              </a:rPr>
              <a:t>Personalized Recommendation System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0000"/>
                </a:solidFill>
                <a:latin typeface="Calibri"/>
                <a:ea typeface="Calibri"/>
                <a:cs typeface="Calibri"/>
                <a:sym typeface="Calibri"/>
              </a:rPr>
              <a:t>Presented by Batch-III interns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grpSp>
        <p:nvGrpSpPr>
          <p:cNvPr id="56" name="Google Shape;56;p15"/>
          <p:cNvGrpSpPr/>
          <p:nvPr/>
        </p:nvGrpSpPr>
        <p:grpSpPr>
          <a:xfrm>
            <a:off x="128206" y="275959"/>
            <a:ext cx="14271735" cy="1072756"/>
            <a:chOff x="0" y="59087"/>
            <a:chExt cx="12192000" cy="826474"/>
          </a:xfrm>
        </p:grpSpPr>
        <p:pic>
          <p:nvPicPr>
            <p:cNvPr id="57" name="Google Shape;57;p15"/>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58" name="Google Shape;58;p15"/>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59" name="Google Shape;59;p15"/>
            <p:cNvSpPr txBox="1"/>
            <p:nvPr/>
          </p:nvSpPr>
          <p:spPr>
            <a:xfrm>
              <a:off x="0" y="90471"/>
              <a:ext cx="12192000" cy="7950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2060"/>
                  </a:solidFill>
                  <a:latin typeface="ADLaM Display"/>
                  <a:ea typeface="ADLaM Display"/>
                  <a:cs typeface="ADLaM Display"/>
                  <a:sym typeface="ADLaM Display"/>
                </a:rPr>
                <a:t>Transforming Citizen Service Delivery in BSK using AI/ML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2060"/>
                </a:solidFill>
                <a:latin typeface="ADLaM Display"/>
                <a:ea typeface="ADLaM Display"/>
                <a:cs typeface="ADLaM Display"/>
                <a:sym typeface="ADLaM Display"/>
              </a:endParaRPr>
            </a:p>
          </p:txBody>
        </p:sp>
        <p:pic>
          <p:nvPicPr>
            <p:cNvPr id="60" name="Google Shape;60;p15"/>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
        <p:nvSpPr>
          <p:cNvPr id="61" name="Google Shape;61;p15"/>
          <p:cNvSpPr/>
          <p:nvPr/>
        </p:nvSpPr>
        <p:spPr>
          <a:xfrm>
            <a:off x="494973" y="5676444"/>
            <a:ext cx="12675984" cy="1917256"/>
          </a:xfrm>
          <a:prstGeom prst="rect">
            <a:avLst/>
          </a:prstGeom>
          <a:noFill/>
          <a:ln>
            <a:noFill/>
          </a:ln>
        </p:spPr>
        <p:txBody>
          <a:bodyPr anchorCtr="0" anchor="t" bIns="45700" lIns="91425" spcFirstLastPara="1" rIns="91425" wrap="square" tIns="45700">
            <a:noAutofit/>
          </a:bodyPr>
          <a:lstStyle/>
          <a:p>
            <a:pPr indent="0" lvl="0" marL="0" marR="0" rtl="0" algn="l">
              <a:lnSpc>
                <a:spcPct val="158333"/>
              </a:lnSpc>
              <a:spcBef>
                <a:spcPts val="0"/>
              </a:spcBef>
              <a:spcAft>
                <a:spcPts val="0"/>
              </a:spcAft>
              <a:buClr>
                <a:srgbClr val="000000"/>
              </a:buClr>
              <a:buSzPts val="1800"/>
              <a:buFont typeface="Arial"/>
              <a:buNone/>
            </a:pPr>
            <a:r>
              <a:rPr b="0" i="0" lang="en-US" sz="1800" u="none" cap="none" strike="noStrike">
                <a:solidFill>
                  <a:srgbClr val="4A4A45"/>
                </a:solidFill>
                <a:latin typeface="Lato"/>
                <a:ea typeface="Lato"/>
                <a:cs typeface="Lato"/>
                <a:sym typeface="Lato"/>
              </a:rPr>
              <a:t>This presentation outlines our innovative approach to enhancing citizen service delivery through the strategic application of Artificial Intelligence and Machine Learning. </a:t>
            </a:r>
            <a:endParaRPr b="0" i="0" sz="1400" u="none" cap="none" strike="noStrike">
              <a:solidFill>
                <a:srgbClr val="000000"/>
              </a:solidFill>
              <a:latin typeface="Arial"/>
              <a:ea typeface="Arial"/>
              <a:cs typeface="Arial"/>
              <a:sym typeface="Arial"/>
            </a:endParaRPr>
          </a:p>
          <a:p>
            <a:pPr indent="0" lvl="0" marL="0" marR="0" rtl="0" algn="l">
              <a:lnSpc>
                <a:spcPct val="158333"/>
              </a:lnSpc>
              <a:spcBef>
                <a:spcPts val="0"/>
              </a:spcBef>
              <a:spcAft>
                <a:spcPts val="0"/>
              </a:spcAft>
              <a:buClr>
                <a:srgbClr val="000000"/>
              </a:buClr>
              <a:buSzPts val="1800"/>
              <a:buFont typeface="Arial"/>
              <a:buNone/>
            </a:pPr>
            <a:r>
              <a:t/>
            </a:r>
            <a:endParaRPr b="0" i="0" sz="1800" u="none" cap="none" strike="noStrike">
              <a:solidFill>
                <a:srgbClr val="4A4A45"/>
              </a:solidFill>
              <a:latin typeface="Lato"/>
              <a:ea typeface="Lato"/>
              <a:cs typeface="Lato"/>
              <a:sym typeface="Lato"/>
            </a:endParaRPr>
          </a:p>
          <a:p>
            <a:pPr indent="0" lvl="0" marL="0" marR="0" rtl="0" algn="l">
              <a:lnSpc>
                <a:spcPct val="158333"/>
              </a:lnSpc>
              <a:spcBef>
                <a:spcPts val="0"/>
              </a:spcBef>
              <a:spcAft>
                <a:spcPts val="0"/>
              </a:spcAft>
              <a:buClr>
                <a:srgbClr val="000000"/>
              </a:buClr>
              <a:buSzPts val="1800"/>
              <a:buFont typeface="Arial"/>
              <a:buNone/>
            </a:pPr>
            <a:r>
              <a:rPr b="0" i="0" lang="en-US" sz="1800" u="none" cap="none" strike="noStrike">
                <a:solidFill>
                  <a:srgbClr val="4A4A45"/>
                </a:solidFill>
                <a:latin typeface="Lato"/>
                <a:ea typeface="Lato"/>
                <a:cs typeface="Lato"/>
                <a:sym typeface="Lato"/>
              </a:rPr>
              <a:t>Our team under the guidance of </a:t>
            </a:r>
            <a:r>
              <a:rPr b="1" i="0" lang="en-US" sz="1800" u="none" cap="none" strike="noStrike">
                <a:solidFill>
                  <a:srgbClr val="4A4A45"/>
                </a:solidFill>
                <a:latin typeface="Lato"/>
                <a:ea typeface="Lato"/>
                <a:cs typeface="Lato"/>
                <a:sym typeface="Lato"/>
              </a:rPr>
              <a:t>Dr. Saptarsi Goswami, Mr. Kausik Halder, Dr. Arindam Ray, </a:t>
            </a:r>
            <a:r>
              <a:rPr b="0" i="0" lang="en-US" sz="1800" u="none" cap="none" strike="noStrike">
                <a:solidFill>
                  <a:srgbClr val="4A4A45"/>
                </a:solidFill>
                <a:latin typeface="Lato"/>
                <a:ea typeface="Lato"/>
                <a:cs typeface="Lato"/>
                <a:sym typeface="Lato"/>
              </a:rPr>
              <a:t>and</a:t>
            </a:r>
            <a:r>
              <a:rPr b="1" i="0" lang="en-US" sz="1800" u="none" cap="none" strike="noStrike">
                <a:solidFill>
                  <a:srgbClr val="4A4A45"/>
                </a:solidFill>
                <a:latin typeface="Lato"/>
                <a:ea typeface="Lato"/>
                <a:cs typeface="Lato"/>
                <a:sym typeface="Lato"/>
              </a:rPr>
              <a:t> Mr. Manojit Baral,</a:t>
            </a:r>
            <a:r>
              <a:rPr b="0" i="0" lang="en-US" sz="1800" u="none" cap="none" strike="noStrike">
                <a:solidFill>
                  <a:srgbClr val="4A4A45"/>
                </a:solidFill>
                <a:latin typeface="Lato"/>
                <a:ea typeface="Lato"/>
                <a:cs typeface="Lato"/>
                <a:sym typeface="Lato"/>
              </a:rPr>
              <a:t> has developed a robust recommendation system designed to personalize and streamline public services.</a:t>
            </a:r>
            <a:endParaRPr b="0" i="0" sz="1800" u="none" cap="none" strike="noStrike">
              <a:solidFill>
                <a:schemeClr val="dk1"/>
              </a:solidFill>
              <a:latin typeface="Calibri"/>
              <a:ea typeface="Calibri"/>
              <a:cs typeface="Calibri"/>
              <a:sym typeface="Calibri"/>
            </a:endParaRPr>
          </a:p>
        </p:txBody>
      </p:sp>
      <p:pic>
        <p:nvPicPr>
          <p:cNvPr id="62" name="Google Shape;62;p15"/>
          <p:cNvPicPr preferRelativeResize="0"/>
          <p:nvPr/>
        </p:nvPicPr>
        <p:blipFill rotWithShape="1">
          <a:blip r:embed="rId5">
            <a:alphaModFix/>
          </a:blip>
          <a:srcRect b="0" l="0" r="0" t="0"/>
          <a:stretch/>
        </p:blipFill>
        <p:spPr>
          <a:xfrm>
            <a:off x="13406028" y="6947451"/>
            <a:ext cx="993913" cy="993913"/>
          </a:xfrm>
          <a:prstGeom prst="rect">
            <a:avLst/>
          </a:prstGeom>
          <a:noFill/>
          <a:ln>
            <a:noFill/>
          </a:ln>
        </p:spPr>
      </p:pic>
      <p:pic>
        <p:nvPicPr>
          <p:cNvPr id="63" name="Google Shape;63;p15"/>
          <p:cNvPicPr preferRelativeResize="0"/>
          <p:nvPr/>
        </p:nvPicPr>
        <p:blipFill rotWithShape="1">
          <a:blip r:embed="rId6">
            <a:alphaModFix/>
          </a:blip>
          <a:srcRect b="13094" l="0" r="0" t="0"/>
          <a:stretch/>
        </p:blipFill>
        <p:spPr>
          <a:xfrm>
            <a:off x="3682421" y="1518485"/>
            <a:ext cx="3150544" cy="3364600"/>
          </a:xfrm>
          <a:prstGeom prst="rect">
            <a:avLst/>
          </a:prstGeom>
          <a:noFill/>
          <a:ln>
            <a:noFill/>
          </a:ln>
        </p:spPr>
      </p:pic>
      <p:pic>
        <p:nvPicPr>
          <p:cNvPr id="64" name="Google Shape;64;p15"/>
          <p:cNvPicPr preferRelativeResize="0"/>
          <p:nvPr/>
        </p:nvPicPr>
        <p:blipFill rotWithShape="1">
          <a:blip r:embed="rId7">
            <a:alphaModFix/>
          </a:blip>
          <a:srcRect b="0" l="0" r="0" t="0"/>
          <a:stretch/>
        </p:blipFill>
        <p:spPr>
          <a:xfrm>
            <a:off x="258965" y="1518484"/>
            <a:ext cx="3150543" cy="3364599"/>
          </a:xfrm>
          <a:prstGeom prst="rect">
            <a:avLst/>
          </a:prstGeom>
          <a:noFill/>
          <a:ln>
            <a:noFill/>
          </a:ln>
        </p:spPr>
      </p:pic>
      <p:pic>
        <p:nvPicPr>
          <p:cNvPr id="65" name="Google Shape;65;p15"/>
          <p:cNvPicPr preferRelativeResize="0"/>
          <p:nvPr/>
        </p:nvPicPr>
        <p:blipFill rotWithShape="1">
          <a:blip r:embed="rId8">
            <a:alphaModFix/>
          </a:blip>
          <a:srcRect b="0" l="0" r="0" t="0"/>
          <a:stretch/>
        </p:blipFill>
        <p:spPr>
          <a:xfrm>
            <a:off x="10924429" y="1518485"/>
            <a:ext cx="3370082" cy="3370082"/>
          </a:xfrm>
          <a:prstGeom prst="rect">
            <a:avLst/>
          </a:prstGeom>
          <a:noFill/>
          <a:ln>
            <a:noFill/>
          </a:ln>
        </p:spPr>
      </p:pic>
      <p:sp>
        <p:nvSpPr>
          <p:cNvPr id="66" name="Google Shape;66;p15"/>
          <p:cNvSpPr/>
          <p:nvPr/>
        </p:nvSpPr>
        <p:spPr>
          <a:xfrm>
            <a:off x="730981" y="4922562"/>
            <a:ext cx="1895071"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4A4A45"/>
                </a:solidFill>
                <a:latin typeface="Lato"/>
                <a:ea typeface="Lato"/>
                <a:cs typeface="Lato"/>
                <a:sym typeface="Lato"/>
              </a:rPr>
              <a:t>Aritra Chatterjee</a:t>
            </a:r>
            <a:endParaRPr b="0" i="0" sz="1800" u="none" cap="none" strike="noStrike">
              <a:solidFill>
                <a:schemeClr val="dk1"/>
              </a:solidFill>
              <a:latin typeface="Calibri"/>
              <a:ea typeface="Calibri"/>
              <a:cs typeface="Calibri"/>
              <a:sym typeface="Calibri"/>
            </a:endParaRPr>
          </a:p>
        </p:txBody>
      </p:sp>
      <p:sp>
        <p:nvSpPr>
          <p:cNvPr id="67" name="Google Shape;67;p15"/>
          <p:cNvSpPr/>
          <p:nvPr/>
        </p:nvSpPr>
        <p:spPr>
          <a:xfrm>
            <a:off x="4164817" y="4932298"/>
            <a:ext cx="2100255"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4A4A45"/>
                </a:solidFill>
                <a:latin typeface="Lato"/>
                <a:ea typeface="Lato"/>
                <a:cs typeface="Lato"/>
                <a:sym typeface="Lato"/>
              </a:rPr>
              <a:t>Soumyadeep Basak</a:t>
            </a:r>
            <a:endParaRPr b="0" i="0" sz="1800" u="none" cap="none" strike="noStrike">
              <a:solidFill>
                <a:schemeClr val="dk1"/>
              </a:solidFill>
              <a:latin typeface="Calibri"/>
              <a:ea typeface="Calibri"/>
              <a:cs typeface="Calibri"/>
              <a:sym typeface="Calibri"/>
            </a:endParaRPr>
          </a:p>
        </p:txBody>
      </p:sp>
      <p:sp>
        <p:nvSpPr>
          <p:cNvPr id="68" name="Google Shape;68;p15"/>
          <p:cNvSpPr/>
          <p:nvPr/>
        </p:nvSpPr>
        <p:spPr>
          <a:xfrm>
            <a:off x="8028945" y="4922562"/>
            <a:ext cx="1699504"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4A4A45"/>
                </a:solidFill>
                <a:latin typeface="Lato"/>
                <a:ea typeface="Lato"/>
                <a:cs typeface="Lato"/>
                <a:sym typeface="Lato"/>
              </a:rPr>
              <a:t>Adarsh Rounak</a:t>
            </a:r>
            <a:endParaRPr b="0" i="0" sz="1800" u="none" cap="none" strike="noStrike">
              <a:solidFill>
                <a:schemeClr val="dk1"/>
              </a:solidFill>
              <a:latin typeface="Calibri"/>
              <a:ea typeface="Calibri"/>
              <a:cs typeface="Calibri"/>
              <a:sym typeface="Calibri"/>
            </a:endParaRPr>
          </a:p>
        </p:txBody>
      </p:sp>
      <p:sp>
        <p:nvSpPr>
          <p:cNvPr id="69" name="Google Shape;69;p15"/>
          <p:cNvSpPr/>
          <p:nvPr/>
        </p:nvSpPr>
        <p:spPr>
          <a:xfrm>
            <a:off x="11667965" y="4867382"/>
            <a:ext cx="1899879"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4A4A45"/>
                </a:solidFill>
                <a:latin typeface="Lato"/>
                <a:ea typeface="Lato"/>
                <a:cs typeface="Lato"/>
                <a:sym typeface="Lato"/>
              </a:rPr>
              <a:t>Nilesh Ranjan Pal</a:t>
            </a:r>
            <a:endParaRPr b="0" i="0" sz="1800" u="none" cap="none" strike="noStrike">
              <a:solidFill>
                <a:schemeClr val="dk1"/>
              </a:solidFill>
              <a:latin typeface="Calibri"/>
              <a:ea typeface="Calibri"/>
              <a:cs typeface="Calibri"/>
              <a:sym typeface="Calibri"/>
            </a:endParaRPr>
          </a:p>
        </p:txBody>
      </p:sp>
      <p:sp>
        <p:nvSpPr>
          <p:cNvPr id="70" name="Google Shape;70;p15"/>
          <p:cNvSpPr/>
          <p:nvPr/>
        </p:nvSpPr>
        <p:spPr>
          <a:xfrm>
            <a:off x="6423112" y="5257899"/>
            <a:ext cx="1148071" cy="3693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4A4A45"/>
                </a:solidFill>
                <a:latin typeface="Lato"/>
                <a:ea typeface="Lato"/>
                <a:cs typeface="Lato"/>
                <a:sym typeface="Lato"/>
              </a:rPr>
              <a:t>Our team</a:t>
            </a:r>
            <a:endParaRPr b="0" i="0" sz="1800" u="none" cap="none" strike="noStrike">
              <a:solidFill>
                <a:schemeClr val="dk1"/>
              </a:solidFill>
              <a:latin typeface="Calibri"/>
              <a:ea typeface="Calibri"/>
              <a:cs typeface="Calibri"/>
              <a:sym typeface="Calibri"/>
            </a:endParaRPr>
          </a:p>
        </p:txBody>
      </p:sp>
      <p:pic>
        <p:nvPicPr>
          <p:cNvPr id="71" name="Google Shape;71;p15"/>
          <p:cNvPicPr preferRelativeResize="0"/>
          <p:nvPr/>
        </p:nvPicPr>
        <p:blipFill rotWithShape="1">
          <a:blip r:embed="rId9">
            <a:alphaModFix/>
          </a:blip>
          <a:srcRect b="10184" l="0" r="0" t="19607"/>
          <a:stretch/>
        </p:blipFill>
        <p:spPr>
          <a:xfrm>
            <a:off x="7078914" y="1533570"/>
            <a:ext cx="3579256" cy="335052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grpSp>
        <p:nvGrpSpPr>
          <p:cNvPr id="76" name="Google Shape;76;p16"/>
          <p:cNvGrpSpPr/>
          <p:nvPr/>
        </p:nvGrpSpPr>
        <p:grpSpPr>
          <a:xfrm>
            <a:off x="0" y="70905"/>
            <a:ext cx="14630400" cy="756134"/>
            <a:chOff x="0" y="59087"/>
            <a:chExt cx="12192000" cy="630112"/>
          </a:xfrm>
        </p:grpSpPr>
        <p:pic>
          <p:nvPicPr>
            <p:cNvPr id="77" name="Google Shape;77;p16"/>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78" name="Google Shape;78;p16"/>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79" name="Google Shape;79;p16"/>
            <p:cNvSpPr txBox="1"/>
            <p:nvPr/>
          </p:nvSpPr>
          <p:spPr>
            <a:xfrm>
              <a:off x="0" y="90472"/>
              <a:ext cx="12192000" cy="53860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Background and Problem Statement</a:t>
              </a:r>
              <a:endParaRPr b="1" i="0" sz="3600" u="none" cap="none" strike="noStrike">
                <a:solidFill>
                  <a:srgbClr val="002060"/>
                </a:solidFill>
                <a:latin typeface="ADLaM Display"/>
                <a:ea typeface="ADLaM Display"/>
                <a:cs typeface="ADLaM Display"/>
                <a:sym typeface="ADLaM Display"/>
              </a:endParaRPr>
            </a:p>
          </p:txBody>
        </p:sp>
        <p:pic>
          <p:nvPicPr>
            <p:cNvPr id="80" name="Google Shape;80;p16"/>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pic>
        <p:nvPicPr>
          <p:cNvPr id="81" name="Google Shape;81;p16"/>
          <p:cNvPicPr preferRelativeResize="0"/>
          <p:nvPr/>
        </p:nvPicPr>
        <p:blipFill rotWithShape="1">
          <a:blip r:embed="rId5">
            <a:alphaModFix/>
          </a:blip>
          <a:srcRect b="0" l="0" r="0" t="0"/>
          <a:stretch/>
        </p:blipFill>
        <p:spPr>
          <a:xfrm>
            <a:off x="13406028" y="6947451"/>
            <a:ext cx="993913" cy="993913"/>
          </a:xfrm>
          <a:prstGeom prst="rect">
            <a:avLst/>
          </a:prstGeom>
          <a:noFill/>
          <a:ln>
            <a:noFill/>
          </a:ln>
        </p:spPr>
      </p:pic>
      <p:grpSp>
        <p:nvGrpSpPr>
          <p:cNvPr id="82" name="Google Shape;82;p16"/>
          <p:cNvGrpSpPr/>
          <p:nvPr/>
        </p:nvGrpSpPr>
        <p:grpSpPr>
          <a:xfrm>
            <a:off x="739566" y="1895842"/>
            <a:ext cx="3532075" cy="5620103"/>
            <a:chOff x="162857" y="733539"/>
            <a:chExt cx="3532075" cy="5620103"/>
          </a:xfrm>
        </p:grpSpPr>
        <p:sp>
          <p:nvSpPr>
            <p:cNvPr id="83" name="Google Shape;83;p16"/>
            <p:cNvSpPr/>
            <p:nvPr/>
          </p:nvSpPr>
          <p:spPr>
            <a:xfrm>
              <a:off x="208523" y="733539"/>
              <a:ext cx="768198" cy="768198"/>
            </a:xfrm>
            <a:prstGeom prst="ellipse">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sp>
          <p:nvSpPr>
            <p:cNvPr id="84" name="Google Shape;84;p16"/>
            <p:cNvSpPr/>
            <p:nvPr/>
          </p:nvSpPr>
          <p:spPr>
            <a:xfrm>
              <a:off x="214015" y="1938062"/>
              <a:ext cx="768198" cy="768198"/>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sp>
          <p:nvSpPr>
            <p:cNvPr id="85" name="Google Shape;85;p16"/>
            <p:cNvSpPr/>
            <p:nvPr/>
          </p:nvSpPr>
          <p:spPr>
            <a:xfrm>
              <a:off x="170936" y="3129574"/>
              <a:ext cx="768198" cy="768198"/>
            </a:xfrm>
            <a:prstGeom prst="ellipse">
              <a:avLst/>
            </a:prstGeom>
            <a:solidFill>
              <a:srgbClr val="0048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sp>
          <p:nvSpPr>
            <p:cNvPr id="86" name="Google Shape;86;p16"/>
            <p:cNvSpPr/>
            <p:nvPr/>
          </p:nvSpPr>
          <p:spPr>
            <a:xfrm>
              <a:off x="203593" y="4284306"/>
              <a:ext cx="768198" cy="768198"/>
            </a:xfrm>
            <a:prstGeom prst="ellipse">
              <a:avLst/>
            </a:prstGeom>
            <a:solidFill>
              <a:srgbClr val="DDEA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sp>
          <p:nvSpPr>
            <p:cNvPr id="87" name="Google Shape;87;p16"/>
            <p:cNvSpPr/>
            <p:nvPr/>
          </p:nvSpPr>
          <p:spPr>
            <a:xfrm>
              <a:off x="162857" y="5585444"/>
              <a:ext cx="768198" cy="768198"/>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Calibri"/>
                <a:ea typeface="Calibri"/>
                <a:cs typeface="Calibri"/>
                <a:sym typeface="Calibri"/>
              </a:endParaRPr>
            </a:p>
          </p:txBody>
        </p:sp>
        <p:sp>
          <p:nvSpPr>
            <p:cNvPr id="88" name="Google Shape;88;p16"/>
            <p:cNvSpPr txBox="1"/>
            <p:nvPr/>
          </p:nvSpPr>
          <p:spPr>
            <a:xfrm>
              <a:off x="1163149" y="896210"/>
              <a:ext cx="253178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93K Services / Day</a:t>
              </a:r>
              <a:endParaRPr b="1" i="0" sz="2400" u="none" cap="none" strike="noStrike">
                <a:solidFill>
                  <a:schemeClr val="dk1"/>
                </a:solidFill>
                <a:latin typeface="Calibri"/>
                <a:ea typeface="Calibri"/>
                <a:cs typeface="Calibri"/>
                <a:sym typeface="Calibri"/>
              </a:endParaRPr>
            </a:p>
          </p:txBody>
        </p:sp>
        <p:sp>
          <p:nvSpPr>
            <p:cNvPr id="89" name="Google Shape;89;p16"/>
            <p:cNvSpPr txBox="1"/>
            <p:nvPr/>
          </p:nvSpPr>
          <p:spPr>
            <a:xfrm>
              <a:off x="1066436" y="2140770"/>
              <a:ext cx="249619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40 Departments</a:t>
              </a:r>
              <a:endParaRPr b="0" i="0" sz="1400" u="none" cap="none" strike="noStrike">
                <a:solidFill>
                  <a:srgbClr val="000000"/>
                </a:solidFill>
                <a:latin typeface="Arial"/>
                <a:ea typeface="Arial"/>
                <a:cs typeface="Arial"/>
                <a:sym typeface="Arial"/>
              </a:endParaRPr>
            </a:p>
          </p:txBody>
        </p:sp>
        <p:sp>
          <p:nvSpPr>
            <p:cNvPr id="90" name="Google Shape;90;p16"/>
            <p:cNvSpPr txBox="1"/>
            <p:nvPr/>
          </p:nvSpPr>
          <p:spPr>
            <a:xfrm>
              <a:off x="1066436" y="3267903"/>
              <a:ext cx="203517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316 Services</a:t>
              </a:r>
              <a:endParaRPr b="0" i="0" sz="1400" u="none" cap="none" strike="noStrike">
                <a:solidFill>
                  <a:srgbClr val="000000"/>
                </a:solidFill>
                <a:latin typeface="Arial"/>
                <a:ea typeface="Arial"/>
                <a:cs typeface="Arial"/>
                <a:sym typeface="Arial"/>
              </a:endParaRPr>
            </a:p>
          </p:txBody>
        </p:sp>
        <p:sp>
          <p:nvSpPr>
            <p:cNvPr id="91" name="Google Shape;91;p16"/>
            <p:cNvSpPr txBox="1"/>
            <p:nvPr/>
          </p:nvSpPr>
          <p:spPr>
            <a:xfrm>
              <a:off x="1048438" y="4444981"/>
              <a:ext cx="148406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3561 BSKs</a:t>
              </a:r>
              <a:endParaRPr b="1" i="0" sz="2400" u="none" cap="none" strike="noStrike">
                <a:solidFill>
                  <a:schemeClr val="dk1"/>
                </a:solidFill>
                <a:latin typeface="Calibri"/>
                <a:ea typeface="Calibri"/>
                <a:cs typeface="Calibri"/>
                <a:sym typeface="Calibri"/>
              </a:endParaRPr>
            </a:p>
          </p:txBody>
        </p:sp>
        <p:sp>
          <p:nvSpPr>
            <p:cNvPr id="92" name="Google Shape;92;p16"/>
            <p:cNvSpPr txBox="1"/>
            <p:nvPr/>
          </p:nvSpPr>
          <p:spPr>
            <a:xfrm>
              <a:off x="1048438" y="5748263"/>
              <a:ext cx="237718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2 Operators/ BSK</a:t>
              </a:r>
              <a:endParaRPr b="1" i="0" sz="2400" u="none" cap="none" strike="noStrike">
                <a:solidFill>
                  <a:schemeClr val="dk1"/>
                </a:solidFill>
                <a:latin typeface="Calibri"/>
                <a:ea typeface="Calibri"/>
                <a:cs typeface="Calibri"/>
                <a:sym typeface="Calibri"/>
              </a:endParaRPr>
            </a:p>
          </p:txBody>
        </p:sp>
        <p:pic>
          <p:nvPicPr>
            <p:cNvPr id="93" name="Google Shape;93;p16"/>
            <p:cNvPicPr preferRelativeResize="0"/>
            <p:nvPr/>
          </p:nvPicPr>
          <p:blipFill rotWithShape="1">
            <a:blip r:embed="rId6">
              <a:alphaModFix/>
            </a:blip>
            <a:srcRect b="0" l="0" r="0" t="0"/>
            <a:stretch/>
          </p:blipFill>
          <p:spPr>
            <a:xfrm>
              <a:off x="330363" y="2026991"/>
              <a:ext cx="514655" cy="514655"/>
            </a:xfrm>
            <a:prstGeom prst="rect">
              <a:avLst/>
            </a:prstGeom>
            <a:noFill/>
            <a:ln>
              <a:noFill/>
            </a:ln>
          </p:spPr>
        </p:pic>
        <p:pic>
          <p:nvPicPr>
            <p:cNvPr id="94" name="Google Shape;94;p16"/>
            <p:cNvPicPr preferRelativeResize="0"/>
            <p:nvPr/>
          </p:nvPicPr>
          <p:blipFill rotWithShape="1">
            <a:blip r:embed="rId7">
              <a:alphaModFix/>
            </a:blip>
            <a:srcRect b="0" l="0" r="0" t="0"/>
            <a:stretch/>
          </p:blipFill>
          <p:spPr>
            <a:xfrm>
              <a:off x="298238" y="3263997"/>
              <a:ext cx="502263" cy="502263"/>
            </a:xfrm>
            <a:prstGeom prst="rect">
              <a:avLst/>
            </a:prstGeom>
            <a:noFill/>
            <a:ln>
              <a:noFill/>
            </a:ln>
          </p:spPr>
        </p:pic>
      </p:grpSp>
      <p:pic>
        <p:nvPicPr>
          <p:cNvPr id="95" name="Google Shape;95;p16"/>
          <p:cNvPicPr preferRelativeResize="0"/>
          <p:nvPr/>
        </p:nvPicPr>
        <p:blipFill rotWithShape="1">
          <a:blip r:embed="rId8">
            <a:alphaModFix/>
          </a:blip>
          <a:srcRect b="0" l="0" r="0" t="0"/>
          <a:stretch/>
        </p:blipFill>
        <p:spPr>
          <a:xfrm>
            <a:off x="915020" y="5562242"/>
            <a:ext cx="506707" cy="506707"/>
          </a:xfrm>
          <a:prstGeom prst="rect">
            <a:avLst/>
          </a:prstGeom>
          <a:noFill/>
          <a:ln>
            <a:noFill/>
          </a:ln>
        </p:spPr>
      </p:pic>
      <p:pic>
        <p:nvPicPr>
          <p:cNvPr id="96" name="Google Shape;96;p16"/>
          <p:cNvPicPr preferRelativeResize="0"/>
          <p:nvPr/>
        </p:nvPicPr>
        <p:blipFill rotWithShape="1">
          <a:blip r:embed="rId9">
            <a:alphaModFix/>
          </a:blip>
          <a:srcRect b="0" l="0" r="0" t="0"/>
          <a:stretch/>
        </p:blipFill>
        <p:spPr>
          <a:xfrm>
            <a:off x="874947" y="6851460"/>
            <a:ext cx="449638" cy="449638"/>
          </a:xfrm>
          <a:prstGeom prst="rect">
            <a:avLst/>
          </a:prstGeom>
          <a:noFill/>
          <a:ln>
            <a:noFill/>
          </a:ln>
        </p:spPr>
      </p:pic>
      <p:sp>
        <p:nvSpPr>
          <p:cNvPr id="97" name="Google Shape;97;p16"/>
          <p:cNvSpPr/>
          <p:nvPr/>
        </p:nvSpPr>
        <p:spPr>
          <a:xfrm>
            <a:off x="966399" y="2147503"/>
            <a:ext cx="396000" cy="313084"/>
          </a:xfrm>
          <a:custGeom>
            <a:rect b="b" l="l" r="r" t="t"/>
            <a:pathLst>
              <a:path extrusionOk="0" h="2545072" w="3219104">
                <a:moveTo>
                  <a:pt x="2779672" y="457200"/>
                </a:moveTo>
                <a:lnTo>
                  <a:pt x="2975888" y="457200"/>
                </a:lnTo>
                <a:cubicBezTo>
                  <a:pt x="3110212" y="457200"/>
                  <a:pt x="3219104" y="566092"/>
                  <a:pt x="3219104" y="700416"/>
                </a:cubicBezTo>
                <a:lnTo>
                  <a:pt x="3219104" y="2301856"/>
                </a:lnTo>
                <a:cubicBezTo>
                  <a:pt x="3219104" y="2436180"/>
                  <a:pt x="3110212" y="2545072"/>
                  <a:pt x="2975888" y="2545072"/>
                </a:cubicBezTo>
                <a:lnTo>
                  <a:pt x="2779672" y="2545072"/>
                </a:lnTo>
                <a:close/>
                <a:moveTo>
                  <a:pt x="243216" y="457200"/>
                </a:moveTo>
                <a:lnTo>
                  <a:pt x="439432" y="457200"/>
                </a:lnTo>
                <a:lnTo>
                  <a:pt x="439432" y="2545072"/>
                </a:lnTo>
                <a:lnTo>
                  <a:pt x="243216" y="2545072"/>
                </a:lnTo>
                <a:cubicBezTo>
                  <a:pt x="108892" y="2545072"/>
                  <a:pt x="0" y="2436180"/>
                  <a:pt x="0" y="2301856"/>
                </a:cubicBezTo>
                <a:lnTo>
                  <a:pt x="0" y="700416"/>
                </a:lnTo>
                <a:cubicBezTo>
                  <a:pt x="0" y="566092"/>
                  <a:pt x="108892" y="457200"/>
                  <a:pt x="243216" y="457200"/>
                </a:cubicBezTo>
                <a:close/>
                <a:moveTo>
                  <a:pt x="1428476" y="174246"/>
                </a:moveTo>
                <a:cubicBezTo>
                  <a:pt x="1372210" y="174246"/>
                  <a:pt x="1326598" y="219858"/>
                  <a:pt x="1326598" y="276124"/>
                </a:cubicBezTo>
                <a:lnTo>
                  <a:pt x="1326598" y="457200"/>
                </a:lnTo>
                <a:lnTo>
                  <a:pt x="1892506" y="457200"/>
                </a:lnTo>
                <a:lnTo>
                  <a:pt x="1892506" y="276124"/>
                </a:lnTo>
                <a:cubicBezTo>
                  <a:pt x="1892506" y="219858"/>
                  <a:pt x="1846894" y="174246"/>
                  <a:pt x="1790628" y="174246"/>
                </a:cubicBezTo>
                <a:close/>
                <a:moveTo>
                  <a:pt x="1285704" y="0"/>
                </a:moveTo>
                <a:lnTo>
                  <a:pt x="1933400" y="0"/>
                </a:lnTo>
                <a:cubicBezTo>
                  <a:pt x="2007048" y="0"/>
                  <a:pt x="2066752" y="59704"/>
                  <a:pt x="2066752" y="133352"/>
                </a:cubicBezTo>
                <a:lnTo>
                  <a:pt x="2066752" y="457200"/>
                </a:lnTo>
                <a:lnTo>
                  <a:pt x="2599672" y="457200"/>
                </a:lnTo>
                <a:lnTo>
                  <a:pt x="2599672" y="2545072"/>
                </a:lnTo>
                <a:lnTo>
                  <a:pt x="619432" y="2545072"/>
                </a:lnTo>
                <a:lnTo>
                  <a:pt x="619432" y="457200"/>
                </a:lnTo>
                <a:lnTo>
                  <a:pt x="1152352" y="457200"/>
                </a:lnTo>
                <a:lnTo>
                  <a:pt x="1152352" y="133352"/>
                </a:lnTo>
                <a:cubicBezTo>
                  <a:pt x="1152352" y="59704"/>
                  <a:pt x="1212056" y="0"/>
                  <a:pt x="1285704" y="0"/>
                </a:cubicBezTo>
                <a:close/>
              </a:path>
            </a:pathLst>
          </a:custGeom>
          <a:solidFill>
            <a:srgbClr val="7E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 name="Google Shape;98;p16"/>
          <p:cNvSpPr txBox="1"/>
          <p:nvPr/>
        </p:nvSpPr>
        <p:spPr>
          <a:xfrm>
            <a:off x="739566" y="1258048"/>
            <a:ext cx="410439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About Bangla Sahayata Kendra</a:t>
            </a:r>
            <a:endParaRPr b="1" i="0" sz="2400" u="none" cap="none" strike="noStrike">
              <a:solidFill>
                <a:schemeClr val="dk1"/>
              </a:solidFill>
              <a:latin typeface="Calibri"/>
              <a:ea typeface="Calibri"/>
              <a:cs typeface="Calibri"/>
              <a:sym typeface="Calibri"/>
            </a:endParaRPr>
          </a:p>
        </p:txBody>
      </p:sp>
      <p:sp>
        <p:nvSpPr>
          <p:cNvPr id="99" name="Google Shape;99;p16"/>
          <p:cNvSpPr/>
          <p:nvPr/>
        </p:nvSpPr>
        <p:spPr>
          <a:xfrm>
            <a:off x="5986551" y="4328809"/>
            <a:ext cx="371058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82824"/>
              </a:buClr>
              <a:buSzPts val="2200"/>
              <a:buFont typeface="Lato"/>
              <a:buNone/>
            </a:pPr>
            <a:r>
              <a:rPr b="1" i="0" lang="en-US" sz="2200" u="none" cap="none" strike="noStrike">
                <a:solidFill>
                  <a:srgbClr val="282824"/>
                </a:solidFill>
                <a:latin typeface="Lato"/>
                <a:ea typeface="Lato"/>
                <a:cs typeface="Lato"/>
                <a:sym typeface="Lato"/>
              </a:rPr>
              <a:t>Addressing the Core Problem</a:t>
            </a:r>
            <a:endParaRPr b="0" i="0" sz="2200" u="none" cap="none" strike="noStrike">
              <a:solidFill>
                <a:schemeClr val="dk1"/>
              </a:solidFill>
              <a:latin typeface="Calibri"/>
              <a:ea typeface="Calibri"/>
              <a:cs typeface="Calibri"/>
              <a:sym typeface="Calibri"/>
            </a:endParaRPr>
          </a:p>
        </p:txBody>
      </p:sp>
      <p:sp>
        <p:nvSpPr>
          <p:cNvPr id="100" name="Google Shape;100;p16"/>
          <p:cNvSpPr/>
          <p:nvPr/>
        </p:nvSpPr>
        <p:spPr>
          <a:xfrm>
            <a:off x="6903906" y="1927276"/>
            <a:ext cx="6244709" cy="362903"/>
          </a:xfrm>
          <a:prstGeom prst="rect">
            <a:avLst/>
          </a:prstGeom>
          <a:noFill/>
          <a:ln>
            <a:noFill/>
          </a:ln>
        </p:spPr>
        <p:txBody>
          <a:bodyPr anchorCtr="0" anchor="t" bIns="0" lIns="0" spcFirstLastPara="1" rIns="0" wrap="square" tIns="0">
            <a:noAutofit/>
          </a:bodyPr>
          <a:lstStyle/>
          <a:p>
            <a:pPr indent="-231775" lvl="0" marL="342900" marR="0" rtl="0" algn="l">
              <a:lnSpc>
                <a:spcPct val="162857"/>
              </a:lnSpc>
              <a:spcBef>
                <a:spcPts val="0"/>
              </a:spcBef>
              <a:spcAft>
                <a:spcPts val="0"/>
              </a:spcAft>
              <a:buClr>
                <a:schemeClr val="dk1"/>
              </a:buClr>
              <a:buSzPts val="1750"/>
              <a:buFont typeface="Calibri"/>
              <a:buNone/>
            </a:pPr>
            <a:r>
              <a:t/>
            </a:r>
            <a:endParaRPr b="0" i="0" sz="1750" u="none" cap="none" strike="noStrike">
              <a:solidFill>
                <a:schemeClr val="dk1"/>
              </a:solidFill>
              <a:latin typeface="Calibri"/>
              <a:ea typeface="Calibri"/>
              <a:cs typeface="Calibri"/>
              <a:sym typeface="Calibri"/>
            </a:endParaRPr>
          </a:p>
        </p:txBody>
      </p:sp>
      <p:sp>
        <p:nvSpPr>
          <p:cNvPr id="101" name="Google Shape;101;p16"/>
          <p:cNvSpPr/>
          <p:nvPr/>
        </p:nvSpPr>
        <p:spPr>
          <a:xfrm>
            <a:off x="5948738" y="1276392"/>
            <a:ext cx="7333440" cy="301438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Background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Many citizens visiting BSK (Bangla Sahayata Kendras) are not fully informed about the range of services available to them.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For instance, a citizen who visits BSK for a property mutation service might not be aware that new electricity connection services are also available.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To address this gap, a personalized recommendation system is proposed to increase awareness and utilization of relevant services.</a:t>
            </a:r>
            <a:endParaRPr b="0" i="0" sz="1750" u="none" cap="none" strike="noStrike">
              <a:solidFill>
                <a:schemeClr val="dk1"/>
              </a:solidFill>
              <a:latin typeface="Calibri"/>
              <a:ea typeface="Calibri"/>
              <a:cs typeface="Calibri"/>
              <a:sym typeface="Calibri"/>
            </a:endParaRPr>
          </a:p>
        </p:txBody>
      </p:sp>
      <p:sp>
        <p:nvSpPr>
          <p:cNvPr id="102" name="Google Shape;102;p16"/>
          <p:cNvSpPr/>
          <p:nvPr/>
        </p:nvSpPr>
        <p:spPr>
          <a:xfrm>
            <a:off x="6013043" y="5100804"/>
            <a:ext cx="7333440" cy="227142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Analyze Citizen Behavior &amp; Service Usage Patterns</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Study historical service usage and demographic profiles of BSK visitors.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Identify frequently availed services and common combinations.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Design AI/ML-Based Recommendation System</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Build models to suggest relevant additional services using demographic, geographic, and service usage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Apply filters for eligibility and recurrence to refine recommendations.</a:t>
            </a:r>
            <a:br>
              <a:rPr b="0" i="0" lang="en-US" sz="1800" u="none" cap="none" strike="noStrike">
                <a:solidFill>
                  <a:schemeClr val="dk1"/>
                </a:solidFill>
                <a:latin typeface="Calibri"/>
                <a:ea typeface="Calibri"/>
                <a:cs typeface="Calibri"/>
                <a:sym typeface="Calibri"/>
              </a:rPr>
            </a:br>
            <a:endParaRPr b="0" i="0" sz="32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17"/>
          <p:cNvGrpSpPr/>
          <p:nvPr/>
        </p:nvGrpSpPr>
        <p:grpSpPr>
          <a:xfrm>
            <a:off x="0" y="70905"/>
            <a:ext cx="14630400" cy="756134"/>
            <a:chOff x="0" y="59087"/>
            <a:chExt cx="12192000" cy="630112"/>
          </a:xfrm>
        </p:grpSpPr>
        <p:pic>
          <p:nvPicPr>
            <p:cNvPr id="108" name="Google Shape;108;p17"/>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109" name="Google Shape;109;p17"/>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110" name="Google Shape;110;p17"/>
            <p:cNvSpPr txBox="1"/>
            <p:nvPr/>
          </p:nvSpPr>
          <p:spPr>
            <a:xfrm>
              <a:off x="0" y="90472"/>
              <a:ext cx="12192000" cy="53860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Data Collection &amp; Preparation</a:t>
              </a:r>
              <a:endParaRPr b="0" i="0" sz="1400" u="none" cap="none" strike="noStrike">
                <a:solidFill>
                  <a:srgbClr val="000000"/>
                </a:solidFill>
                <a:latin typeface="Arial"/>
                <a:ea typeface="Arial"/>
                <a:cs typeface="Arial"/>
                <a:sym typeface="Arial"/>
              </a:endParaRPr>
            </a:p>
          </p:txBody>
        </p:sp>
        <p:pic>
          <p:nvPicPr>
            <p:cNvPr id="111" name="Google Shape;111;p17"/>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
        <p:nvSpPr>
          <p:cNvPr id="112" name="Google Shape;112;p17"/>
          <p:cNvSpPr/>
          <p:nvPr/>
        </p:nvSpPr>
        <p:spPr>
          <a:xfrm>
            <a:off x="793791" y="2131731"/>
            <a:ext cx="2730246" cy="725804"/>
          </a:xfrm>
          <a:prstGeom prst="rect">
            <a:avLst/>
          </a:prstGeom>
          <a:noFill/>
          <a:ln>
            <a:noFill/>
          </a:ln>
        </p:spPr>
        <p:txBody>
          <a:bodyPr anchorCtr="0" anchor="t" bIns="0" lIns="0" spcFirstLastPara="1" rIns="0" wrap="square" tIns="0">
            <a:noAutofit/>
          </a:bodyPr>
          <a:lstStyle/>
          <a:p>
            <a:pPr indent="0" lvl="0" marL="0" marR="0" rtl="0" algn="ctr">
              <a:lnSpc>
                <a:spcPct val="146250"/>
              </a:lnSpc>
              <a:spcBef>
                <a:spcPts val="0"/>
              </a:spcBef>
              <a:spcAft>
                <a:spcPts val="0"/>
              </a:spcAft>
              <a:buClr>
                <a:srgbClr val="4A4A45"/>
              </a:buClr>
              <a:buSzPts val="4000"/>
              <a:buFont typeface="Arial"/>
              <a:buNone/>
            </a:pPr>
            <a:r>
              <a:rPr b="1" i="0" lang="en-US" sz="4000" u="none" cap="none" strike="noStrike">
                <a:solidFill>
                  <a:srgbClr val="4A4A45"/>
                </a:solidFill>
                <a:latin typeface="Arial"/>
                <a:ea typeface="Arial"/>
                <a:cs typeface="Arial"/>
                <a:sym typeface="Arial"/>
              </a:rPr>
              <a:t>25L+</a:t>
            </a:r>
            <a:endParaRPr b="0" i="0" sz="4000" u="none" cap="none" strike="noStrike">
              <a:solidFill>
                <a:schemeClr val="dk1"/>
              </a:solidFill>
              <a:latin typeface="Arial"/>
              <a:ea typeface="Arial"/>
              <a:cs typeface="Arial"/>
              <a:sym typeface="Arial"/>
            </a:endParaRPr>
          </a:p>
        </p:txBody>
      </p:sp>
      <p:sp>
        <p:nvSpPr>
          <p:cNvPr id="113" name="Google Shape;113;p17"/>
          <p:cNvSpPr/>
          <p:nvPr/>
        </p:nvSpPr>
        <p:spPr>
          <a:xfrm>
            <a:off x="688802" y="2935521"/>
            <a:ext cx="2835235" cy="354330"/>
          </a:xfrm>
          <a:prstGeom prst="rect">
            <a:avLst/>
          </a:prstGeom>
          <a:noFill/>
          <a:ln>
            <a:noFill/>
          </a:ln>
        </p:spPr>
        <p:txBody>
          <a:bodyPr anchorCtr="0" anchor="t" bIns="0" lIns="0" spcFirstLastPara="1" rIns="0" wrap="square" tIns="0">
            <a:noAutofit/>
          </a:bodyPr>
          <a:lstStyle/>
          <a:p>
            <a:pPr indent="0" lvl="0" marL="0" marR="0" rtl="0" algn="ctr">
              <a:lnSpc>
                <a:spcPct val="137500"/>
              </a:lnSpc>
              <a:spcBef>
                <a:spcPts val="0"/>
              </a:spcBef>
              <a:spcAft>
                <a:spcPts val="0"/>
              </a:spcAft>
              <a:buClr>
                <a:srgbClr val="4A4A45"/>
              </a:buClr>
              <a:buSzPts val="2000"/>
              <a:buFont typeface="Arial"/>
              <a:buNone/>
            </a:pPr>
            <a:r>
              <a:rPr b="1" i="0" lang="en-US" sz="2000" u="none" cap="none" strike="noStrike">
                <a:solidFill>
                  <a:srgbClr val="4A4A45"/>
                </a:solidFill>
                <a:latin typeface="Arial"/>
                <a:ea typeface="Arial"/>
                <a:cs typeface="Arial"/>
                <a:sym typeface="Arial"/>
              </a:rPr>
              <a:t>Citizens</a:t>
            </a:r>
            <a:endParaRPr b="0" i="0" sz="2000" u="none" cap="none" strike="noStrike">
              <a:solidFill>
                <a:schemeClr val="dk1"/>
              </a:solidFill>
              <a:latin typeface="Arial"/>
              <a:ea typeface="Arial"/>
              <a:cs typeface="Arial"/>
              <a:sym typeface="Arial"/>
            </a:endParaRPr>
          </a:p>
        </p:txBody>
      </p:sp>
      <p:sp>
        <p:nvSpPr>
          <p:cNvPr id="114" name="Google Shape;114;p17"/>
          <p:cNvSpPr/>
          <p:nvPr/>
        </p:nvSpPr>
        <p:spPr>
          <a:xfrm>
            <a:off x="273844" y="3405887"/>
            <a:ext cx="3671697" cy="725805"/>
          </a:xfrm>
          <a:prstGeom prst="rect">
            <a:avLst/>
          </a:prstGeom>
          <a:noFill/>
          <a:ln>
            <a:noFill/>
          </a:ln>
        </p:spPr>
        <p:txBody>
          <a:bodyPr anchorCtr="0" anchor="t" bIns="0" lIns="0" spcFirstLastPara="1" rIns="0" wrap="square" tIns="0">
            <a:noAutofit/>
          </a:bodyPr>
          <a:lstStyle/>
          <a:p>
            <a:pPr indent="0" lvl="0" marL="0" marR="0" rtl="0" algn="ctr">
              <a:lnSpc>
                <a:spcPct val="178125"/>
              </a:lnSpc>
              <a:spcBef>
                <a:spcPts val="0"/>
              </a:spcBef>
              <a:spcAft>
                <a:spcPts val="0"/>
              </a:spcAft>
              <a:buClr>
                <a:srgbClr val="4A4A45"/>
              </a:buClr>
              <a:buSzPts val="1600"/>
              <a:buFont typeface="Arial"/>
              <a:buNone/>
            </a:pPr>
            <a:r>
              <a:rPr b="0" i="0" lang="en-US" sz="1600" u="none" cap="none" strike="noStrike">
                <a:solidFill>
                  <a:srgbClr val="4A4A45"/>
                </a:solidFill>
                <a:latin typeface="Arial"/>
                <a:ea typeface="Arial"/>
                <a:cs typeface="Arial"/>
                <a:sym typeface="Arial"/>
              </a:rPr>
              <a:t>Extensive citizen profiles for comprehensive analysis.</a:t>
            </a:r>
            <a:endParaRPr b="0" i="0" sz="1600" u="none" cap="none" strike="noStrike">
              <a:solidFill>
                <a:schemeClr val="dk1"/>
              </a:solidFill>
              <a:latin typeface="Arial"/>
              <a:ea typeface="Arial"/>
              <a:cs typeface="Arial"/>
              <a:sym typeface="Arial"/>
            </a:endParaRPr>
          </a:p>
        </p:txBody>
      </p:sp>
      <p:sp>
        <p:nvSpPr>
          <p:cNvPr id="115" name="Google Shape;115;p17"/>
          <p:cNvSpPr/>
          <p:nvPr/>
        </p:nvSpPr>
        <p:spPr>
          <a:xfrm>
            <a:off x="4857869" y="2120419"/>
            <a:ext cx="2079307" cy="748427"/>
          </a:xfrm>
          <a:prstGeom prst="rect">
            <a:avLst/>
          </a:prstGeom>
          <a:noFill/>
          <a:ln>
            <a:noFill/>
          </a:ln>
        </p:spPr>
        <p:txBody>
          <a:bodyPr anchorCtr="0" anchor="t" bIns="0" lIns="0" spcFirstLastPara="1" rIns="0" wrap="square" tIns="0">
            <a:noAutofit/>
          </a:bodyPr>
          <a:lstStyle/>
          <a:p>
            <a:pPr indent="0" lvl="0" marL="0" marR="0" rtl="0" algn="ctr">
              <a:lnSpc>
                <a:spcPct val="146250"/>
              </a:lnSpc>
              <a:spcBef>
                <a:spcPts val="0"/>
              </a:spcBef>
              <a:spcAft>
                <a:spcPts val="0"/>
              </a:spcAft>
              <a:buClr>
                <a:srgbClr val="4A4A45"/>
              </a:buClr>
              <a:buSzPts val="4000"/>
              <a:buFont typeface="Arial"/>
              <a:buNone/>
            </a:pPr>
            <a:r>
              <a:rPr b="1" i="0" lang="en-US" sz="4000" u="none" cap="none" strike="noStrike">
                <a:solidFill>
                  <a:srgbClr val="4A4A45"/>
                </a:solidFill>
                <a:latin typeface="Arial"/>
                <a:ea typeface="Arial"/>
                <a:cs typeface="Arial"/>
                <a:sym typeface="Arial"/>
              </a:rPr>
              <a:t>51L+</a:t>
            </a:r>
            <a:endParaRPr b="0" i="0" sz="4000" u="none" cap="none" strike="noStrike">
              <a:solidFill>
                <a:schemeClr val="dk1"/>
              </a:solidFill>
              <a:latin typeface="Arial"/>
              <a:ea typeface="Arial"/>
              <a:cs typeface="Arial"/>
              <a:sym typeface="Arial"/>
            </a:endParaRPr>
          </a:p>
        </p:txBody>
      </p:sp>
      <p:sp>
        <p:nvSpPr>
          <p:cNvPr id="116" name="Google Shape;116;p17"/>
          <p:cNvSpPr/>
          <p:nvPr/>
        </p:nvSpPr>
        <p:spPr>
          <a:xfrm>
            <a:off x="4307348" y="2973571"/>
            <a:ext cx="2835235" cy="354330"/>
          </a:xfrm>
          <a:prstGeom prst="rect">
            <a:avLst/>
          </a:prstGeom>
          <a:noFill/>
          <a:ln>
            <a:noFill/>
          </a:ln>
        </p:spPr>
        <p:txBody>
          <a:bodyPr anchorCtr="0" anchor="t" bIns="0" lIns="0" spcFirstLastPara="1" rIns="0" wrap="square" tIns="0">
            <a:noAutofit/>
          </a:bodyPr>
          <a:lstStyle/>
          <a:p>
            <a:pPr indent="0" lvl="0" marL="0" marR="0" rtl="0" algn="ctr">
              <a:lnSpc>
                <a:spcPct val="137500"/>
              </a:lnSpc>
              <a:spcBef>
                <a:spcPts val="0"/>
              </a:spcBef>
              <a:spcAft>
                <a:spcPts val="0"/>
              </a:spcAft>
              <a:buClr>
                <a:srgbClr val="4A4A45"/>
              </a:buClr>
              <a:buSzPts val="2000"/>
              <a:buFont typeface="Arial"/>
              <a:buNone/>
            </a:pPr>
            <a:r>
              <a:rPr b="1" i="0" lang="en-US" sz="2000" u="none" cap="none" strike="noStrike">
                <a:solidFill>
                  <a:srgbClr val="4A4A45"/>
                </a:solidFill>
                <a:latin typeface="Arial"/>
                <a:ea typeface="Arial"/>
                <a:cs typeface="Arial"/>
                <a:sym typeface="Arial"/>
              </a:rPr>
              <a:t>Logs</a:t>
            </a:r>
            <a:endParaRPr b="0" i="0" sz="2000" u="none" cap="none" strike="noStrike">
              <a:solidFill>
                <a:schemeClr val="dk1"/>
              </a:solidFill>
              <a:latin typeface="Arial"/>
              <a:ea typeface="Arial"/>
              <a:cs typeface="Arial"/>
              <a:sym typeface="Arial"/>
            </a:endParaRPr>
          </a:p>
        </p:txBody>
      </p:sp>
      <p:sp>
        <p:nvSpPr>
          <p:cNvPr id="117" name="Google Shape;117;p17"/>
          <p:cNvSpPr/>
          <p:nvPr/>
        </p:nvSpPr>
        <p:spPr>
          <a:xfrm>
            <a:off x="4290775" y="3468207"/>
            <a:ext cx="3538133" cy="646594"/>
          </a:xfrm>
          <a:prstGeom prst="rect">
            <a:avLst/>
          </a:prstGeom>
          <a:noFill/>
          <a:ln>
            <a:noFill/>
          </a:ln>
        </p:spPr>
        <p:txBody>
          <a:bodyPr anchorCtr="0" anchor="t" bIns="0" lIns="0" spcFirstLastPara="1" rIns="0" wrap="square" tIns="0">
            <a:noAutofit/>
          </a:bodyPr>
          <a:lstStyle/>
          <a:p>
            <a:pPr indent="0" lvl="0" marL="0" marR="0" rtl="0" algn="ctr">
              <a:lnSpc>
                <a:spcPct val="178125"/>
              </a:lnSpc>
              <a:spcBef>
                <a:spcPts val="0"/>
              </a:spcBef>
              <a:spcAft>
                <a:spcPts val="0"/>
              </a:spcAft>
              <a:buClr>
                <a:srgbClr val="4A4A45"/>
              </a:buClr>
              <a:buSzPts val="1600"/>
              <a:buFont typeface="Arial"/>
              <a:buNone/>
            </a:pPr>
            <a:r>
              <a:rPr b="0" i="0" lang="en-US" sz="1600" u="none" cap="none" strike="noStrike">
                <a:solidFill>
                  <a:srgbClr val="4A4A45"/>
                </a:solidFill>
                <a:latin typeface="Arial"/>
                <a:ea typeface="Arial"/>
                <a:cs typeface="Arial"/>
                <a:sym typeface="Arial"/>
              </a:rPr>
              <a:t>Detailed service interaction logs to understand behavior.</a:t>
            </a:r>
            <a:endParaRPr b="0" i="0" sz="1600" u="none" cap="none" strike="noStrike">
              <a:solidFill>
                <a:schemeClr val="dk1"/>
              </a:solidFill>
              <a:latin typeface="Arial"/>
              <a:ea typeface="Arial"/>
              <a:cs typeface="Arial"/>
              <a:sym typeface="Arial"/>
            </a:endParaRPr>
          </a:p>
        </p:txBody>
      </p:sp>
      <p:sp>
        <p:nvSpPr>
          <p:cNvPr id="118" name="Google Shape;118;p17"/>
          <p:cNvSpPr/>
          <p:nvPr/>
        </p:nvSpPr>
        <p:spPr>
          <a:xfrm>
            <a:off x="8034391" y="2120419"/>
            <a:ext cx="2178383" cy="632018"/>
          </a:xfrm>
          <a:prstGeom prst="rect">
            <a:avLst/>
          </a:prstGeom>
          <a:noFill/>
          <a:ln>
            <a:noFill/>
          </a:ln>
        </p:spPr>
        <p:txBody>
          <a:bodyPr anchorCtr="0" anchor="t" bIns="0" lIns="0" spcFirstLastPara="1" rIns="0" wrap="square" tIns="0">
            <a:noAutofit/>
          </a:bodyPr>
          <a:lstStyle/>
          <a:p>
            <a:pPr indent="0" lvl="0" marL="0" marR="0" rtl="0" algn="ctr">
              <a:lnSpc>
                <a:spcPct val="146250"/>
              </a:lnSpc>
              <a:spcBef>
                <a:spcPts val="0"/>
              </a:spcBef>
              <a:spcAft>
                <a:spcPts val="0"/>
              </a:spcAft>
              <a:buClr>
                <a:srgbClr val="4A4A45"/>
              </a:buClr>
              <a:buSzPts val="4000"/>
              <a:buFont typeface="Arial"/>
              <a:buNone/>
            </a:pPr>
            <a:r>
              <a:rPr b="1" i="0" lang="en-US" sz="4000" u="none" cap="none" strike="noStrike">
                <a:solidFill>
                  <a:srgbClr val="4A4A45"/>
                </a:solidFill>
                <a:latin typeface="Arial"/>
                <a:ea typeface="Arial"/>
                <a:cs typeface="Arial"/>
                <a:sym typeface="Arial"/>
              </a:rPr>
              <a:t>316</a:t>
            </a:r>
            <a:endParaRPr b="0" i="0" sz="4000" u="none" cap="none" strike="noStrike">
              <a:solidFill>
                <a:schemeClr val="dk1"/>
              </a:solidFill>
              <a:latin typeface="Arial"/>
              <a:ea typeface="Arial"/>
              <a:cs typeface="Arial"/>
              <a:sym typeface="Arial"/>
            </a:endParaRPr>
          </a:p>
        </p:txBody>
      </p:sp>
      <p:sp>
        <p:nvSpPr>
          <p:cNvPr id="119" name="Google Shape;119;p17"/>
          <p:cNvSpPr/>
          <p:nvPr/>
        </p:nvSpPr>
        <p:spPr>
          <a:xfrm>
            <a:off x="7828908" y="2973571"/>
            <a:ext cx="2835235" cy="354330"/>
          </a:xfrm>
          <a:prstGeom prst="rect">
            <a:avLst/>
          </a:prstGeom>
          <a:noFill/>
          <a:ln>
            <a:noFill/>
          </a:ln>
        </p:spPr>
        <p:txBody>
          <a:bodyPr anchorCtr="0" anchor="t" bIns="0" lIns="0" spcFirstLastPara="1" rIns="0" wrap="square" tIns="0">
            <a:noAutofit/>
          </a:bodyPr>
          <a:lstStyle/>
          <a:p>
            <a:pPr indent="0" lvl="0" marL="0" marR="0" rtl="0" algn="ctr">
              <a:lnSpc>
                <a:spcPct val="137500"/>
              </a:lnSpc>
              <a:spcBef>
                <a:spcPts val="0"/>
              </a:spcBef>
              <a:spcAft>
                <a:spcPts val="0"/>
              </a:spcAft>
              <a:buClr>
                <a:srgbClr val="4A4A45"/>
              </a:buClr>
              <a:buSzPts val="2000"/>
              <a:buFont typeface="Arial"/>
              <a:buNone/>
            </a:pPr>
            <a:r>
              <a:rPr b="1" i="0" lang="en-US" sz="2000" u="none" cap="none" strike="noStrike">
                <a:solidFill>
                  <a:srgbClr val="4A4A45"/>
                </a:solidFill>
                <a:latin typeface="Arial"/>
                <a:ea typeface="Arial"/>
                <a:cs typeface="Arial"/>
                <a:sym typeface="Arial"/>
              </a:rPr>
              <a:t>Active Services</a:t>
            </a:r>
            <a:endParaRPr b="0" i="0" sz="2000" u="none" cap="none" strike="noStrike">
              <a:solidFill>
                <a:schemeClr val="dk1"/>
              </a:solidFill>
              <a:latin typeface="Arial"/>
              <a:ea typeface="Arial"/>
              <a:cs typeface="Arial"/>
              <a:sym typeface="Arial"/>
            </a:endParaRPr>
          </a:p>
        </p:txBody>
      </p:sp>
      <p:sp>
        <p:nvSpPr>
          <p:cNvPr id="120" name="Google Shape;120;p17"/>
          <p:cNvSpPr/>
          <p:nvPr/>
        </p:nvSpPr>
        <p:spPr>
          <a:xfrm>
            <a:off x="7941662" y="3524343"/>
            <a:ext cx="2835235" cy="725805"/>
          </a:xfrm>
          <a:prstGeom prst="rect">
            <a:avLst/>
          </a:prstGeom>
          <a:noFill/>
          <a:ln>
            <a:noFill/>
          </a:ln>
        </p:spPr>
        <p:txBody>
          <a:bodyPr anchorCtr="0" anchor="t" bIns="0" lIns="0" spcFirstLastPara="1" rIns="0" wrap="square" tIns="0">
            <a:noAutofit/>
          </a:bodyPr>
          <a:lstStyle/>
          <a:p>
            <a:pPr indent="0" lvl="0" marL="0" marR="0" rtl="0" algn="ctr">
              <a:lnSpc>
                <a:spcPct val="178125"/>
              </a:lnSpc>
              <a:spcBef>
                <a:spcPts val="0"/>
              </a:spcBef>
              <a:spcAft>
                <a:spcPts val="0"/>
              </a:spcAft>
              <a:buClr>
                <a:srgbClr val="4A4A45"/>
              </a:buClr>
              <a:buSzPts val="1600"/>
              <a:buFont typeface="Arial"/>
              <a:buNone/>
            </a:pPr>
            <a:r>
              <a:rPr b="0" i="0" lang="en-US" sz="1600" u="none" cap="none" strike="noStrike">
                <a:solidFill>
                  <a:srgbClr val="4A4A45"/>
                </a:solidFill>
                <a:latin typeface="Arial"/>
                <a:ea typeface="Arial"/>
                <a:cs typeface="Arial"/>
                <a:sym typeface="Arial"/>
              </a:rPr>
              <a:t>Diverse range of government services for recommendation.</a:t>
            </a:r>
            <a:endParaRPr b="0" i="0" sz="1600" u="none" cap="none" strike="noStrike">
              <a:solidFill>
                <a:schemeClr val="dk1"/>
              </a:solidFill>
              <a:latin typeface="Arial"/>
              <a:ea typeface="Arial"/>
              <a:cs typeface="Arial"/>
              <a:sym typeface="Arial"/>
            </a:endParaRPr>
          </a:p>
        </p:txBody>
      </p:sp>
      <p:sp>
        <p:nvSpPr>
          <p:cNvPr id="121" name="Google Shape;121;p17"/>
          <p:cNvSpPr/>
          <p:nvPr/>
        </p:nvSpPr>
        <p:spPr>
          <a:xfrm>
            <a:off x="793790" y="4634900"/>
            <a:ext cx="130428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chemeClr val="dk1"/>
              </a:buClr>
              <a:buSzPts val="1750"/>
              <a:buFont typeface="Calibri"/>
              <a:buNone/>
            </a:pPr>
            <a:r>
              <a:t/>
            </a:r>
            <a:endParaRPr b="0" i="0" sz="1750" u="none" cap="none" strike="noStrike">
              <a:solidFill>
                <a:srgbClr val="4A4A45"/>
              </a:solidFill>
              <a:latin typeface="Arial"/>
              <a:ea typeface="Arial"/>
              <a:cs typeface="Arial"/>
              <a:sym typeface="Arial"/>
            </a:endParaRPr>
          </a:p>
          <a:p>
            <a:pPr indent="0" lvl="0" marL="0" marR="0" rtl="0" algn="l">
              <a:lnSpc>
                <a:spcPct val="142500"/>
              </a:lnSpc>
              <a:spcBef>
                <a:spcPts val="0"/>
              </a:spcBef>
              <a:spcAft>
                <a:spcPts val="0"/>
              </a:spcAft>
              <a:buClr>
                <a:srgbClr val="4A4A45"/>
              </a:buClr>
              <a:buSzPts val="2000"/>
              <a:buFont typeface="Arial"/>
              <a:buNone/>
            </a:pPr>
            <a:r>
              <a:rPr b="0" i="0" lang="en-US" sz="2000" u="none" cap="none" strike="noStrike">
                <a:solidFill>
                  <a:srgbClr val="4A4A45"/>
                </a:solidFill>
                <a:latin typeface="Arial"/>
                <a:ea typeface="Arial"/>
                <a:cs typeface="Arial"/>
                <a:sym typeface="Arial"/>
              </a:rPr>
              <a:t>Our data was sourced from a PostgreSQL dump provided by BSK. </a:t>
            </a:r>
            <a:endParaRPr b="0" i="0" sz="1400" u="none" cap="none" strike="noStrike">
              <a:solidFill>
                <a:srgbClr val="000000"/>
              </a:solidFill>
              <a:latin typeface="Arial"/>
              <a:ea typeface="Arial"/>
              <a:cs typeface="Arial"/>
              <a:sym typeface="Arial"/>
            </a:endParaRPr>
          </a:p>
          <a:p>
            <a:pPr indent="0" lvl="0" marL="0" marR="0" rtl="0" algn="l">
              <a:lnSpc>
                <a:spcPct val="142500"/>
              </a:lnSpc>
              <a:spcBef>
                <a:spcPts val="0"/>
              </a:spcBef>
              <a:spcAft>
                <a:spcPts val="0"/>
              </a:spcAft>
              <a:buClr>
                <a:schemeClr val="dk1"/>
              </a:buClr>
              <a:buSzPts val="2000"/>
              <a:buFont typeface="Calibri"/>
              <a:buNone/>
            </a:pPr>
            <a:r>
              <a:t/>
            </a:r>
            <a:endParaRPr b="0" i="0" sz="2000" u="none" cap="none" strike="noStrike">
              <a:solidFill>
                <a:srgbClr val="4A4A45"/>
              </a:solidFill>
              <a:latin typeface="Arial"/>
              <a:ea typeface="Arial"/>
              <a:cs typeface="Arial"/>
              <a:sym typeface="Arial"/>
            </a:endParaRPr>
          </a:p>
          <a:p>
            <a:pPr indent="0" lvl="0" marL="0" marR="0" rtl="0" algn="l">
              <a:lnSpc>
                <a:spcPct val="142500"/>
              </a:lnSpc>
              <a:spcBef>
                <a:spcPts val="0"/>
              </a:spcBef>
              <a:spcAft>
                <a:spcPts val="0"/>
              </a:spcAft>
              <a:buClr>
                <a:srgbClr val="4A4A45"/>
              </a:buClr>
              <a:buSzPts val="2000"/>
              <a:buFont typeface="Arial"/>
              <a:buNone/>
            </a:pPr>
            <a:r>
              <a:rPr b="0" i="0" lang="en-US" sz="2000" u="none" cap="none" strike="noStrike">
                <a:solidFill>
                  <a:srgbClr val="4A4A45"/>
                </a:solidFill>
                <a:latin typeface="Arial"/>
                <a:ea typeface="Arial"/>
                <a:cs typeface="Arial"/>
                <a:sym typeface="Arial"/>
              </a:rPr>
              <a:t>This raw data underwent meticulous preprocessing, including merging disparate datasets, cleaning inconsistencies, and standardizing formats to ensure high-quality input for our models.</a:t>
            </a:r>
            <a:endParaRPr b="0" i="0" sz="2000" u="none" cap="none" strike="noStrike">
              <a:solidFill>
                <a:schemeClr val="dk1"/>
              </a:solidFill>
              <a:latin typeface="Arial"/>
              <a:ea typeface="Arial"/>
              <a:cs typeface="Arial"/>
              <a:sym typeface="Arial"/>
            </a:endParaRPr>
          </a:p>
        </p:txBody>
      </p:sp>
      <p:pic>
        <p:nvPicPr>
          <p:cNvPr id="122" name="Google Shape;122;p17"/>
          <p:cNvPicPr preferRelativeResize="0"/>
          <p:nvPr/>
        </p:nvPicPr>
        <p:blipFill rotWithShape="1">
          <a:blip r:embed="rId5">
            <a:alphaModFix/>
          </a:blip>
          <a:srcRect b="0" l="0" r="0" t="0"/>
          <a:stretch/>
        </p:blipFill>
        <p:spPr>
          <a:xfrm>
            <a:off x="13406028" y="6947451"/>
            <a:ext cx="993913" cy="993913"/>
          </a:xfrm>
          <a:prstGeom prst="rect">
            <a:avLst/>
          </a:prstGeom>
          <a:noFill/>
          <a:ln>
            <a:noFill/>
          </a:ln>
        </p:spPr>
      </p:pic>
      <p:sp>
        <p:nvSpPr>
          <p:cNvPr id="123" name="Google Shape;123;p17"/>
          <p:cNvSpPr/>
          <p:nvPr/>
        </p:nvSpPr>
        <p:spPr>
          <a:xfrm>
            <a:off x="11106363" y="2070557"/>
            <a:ext cx="2730246" cy="725804"/>
          </a:xfrm>
          <a:prstGeom prst="rect">
            <a:avLst/>
          </a:prstGeom>
          <a:noFill/>
          <a:ln>
            <a:noFill/>
          </a:ln>
        </p:spPr>
        <p:txBody>
          <a:bodyPr anchorCtr="0" anchor="t" bIns="0" lIns="0" spcFirstLastPara="1" rIns="0" wrap="square" tIns="0">
            <a:noAutofit/>
          </a:bodyPr>
          <a:lstStyle/>
          <a:p>
            <a:pPr indent="0" lvl="0" marL="0" marR="0" rtl="0" algn="ctr">
              <a:lnSpc>
                <a:spcPct val="146250"/>
              </a:lnSpc>
              <a:spcBef>
                <a:spcPts val="0"/>
              </a:spcBef>
              <a:spcAft>
                <a:spcPts val="0"/>
              </a:spcAft>
              <a:buClr>
                <a:srgbClr val="4A4A45"/>
              </a:buClr>
              <a:buSzPts val="4000"/>
              <a:buFont typeface="Arial"/>
              <a:buNone/>
            </a:pPr>
            <a:r>
              <a:rPr b="1" i="0" lang="en-US" sz="4000" u="none" cap="none" strike="noStrike">
                <a:solidFill>
                  <a:srgbClr val="4A4A45"/>
                </a:solidFill>
                <a:latin typeface="Arial"/>
                <a:ea typeface="Arial"/>
                <a:cs typeface="Arial"/>
                <a:sym typeface="Arial"/>
              </a:rPr>
              <a:t>3</a:t>
            </a:r>
            <a:endParaRPr b="0" i="0" sz="4000" u="none" cap="none" strike="noStrike">
              <a:solidFill>
                <a:schemeClr val="dk1"/>
              </a:solidFill>
              <a:latin typeface="Arial"/>
              <a:ea typeface="Arial"/>
              <a:cs typeface="Arial"/>
              <a:sym typeface="Arial"/>
            </a:endParaRPr>
          </a:p>
        </p:txBody>
      </p:sp>
      <p:sp>
        <p:nvSpPr>
          <p:cNvPr id="124" name="Google Shape;124;p17"/>
          <p:cNvSpPr/>
          <p:nvPr/>
        </p:nvSpPr>
        <p:spPr>
          <a:xfrm>
            <a:off x="11053868" y="2935137"/>
            <a:ext cx="2835235" cy="354330"/>
          </a:xfrm>
          <a:prstGeom prst="rect">
            <a:avLst/>
          </a:prstGeom>
          <a:noFill/>
          <a:ln>
            <a:noFill/>
          </a:ln>
        </p:spPr>
        <p:txBody>
          <a:bodyPr anchorCtr="0" anchor="t" bIns="0" lIns="0" spcFirstLastPara="1" rIns="0" wrap="square" tIns="0">
            <a:noAutofit/>
          </a:bodyPr>
          <a:lstStyle/>
          <a:p>
            <a:pPr indent="0" lvl="0" marL="0" marR="0" rtl="0" algn="ctr">
              <a:lnSpc>
                <a:spcPct val="137500"/>
              </a:lnSpc>
              <a:spcBef>
                <a:spcPts val="0"/>
              </a:spcBef>
              <a:spcAft>
                <a:spcPts val="0"/>
              </a:spcAft>
              <a:buClr>
                <a:srgbClr val="4A4A45"/>
              </a:buClr>
              <a:buSzPts val="2000"/>
              <a:buFont typeface="Arial"/>
              <a:buNone/>
            </a:pPr>
            <a:r>
              <a:rPr b="1" i="0" lang="en-US" sz="2000" u="none" cap="none" strike="noStrike">
                <a:solidFill>
                  <a:srgbClr val="4A4A45"/>
                </a:solidFill>
                <a:latin typeface="Arial"/>
                <a:ea typeface="Arial"/>
                <a:cs typeface="Arial"/>
                <a:sym typeface="Arial"/>
              </a:rPr>
              <a:t>Months of Data</a:t>
            </a:r>
            <a:endParaRPr b="0" i="0" sz="2000" u="none" cap="none" strike="noStrike">
              <a:solidFill>
                <a:schemeClr val="dk1"/>
              </a:solidFill>
              <a:latin typeface="Arial"/>
              <a:ea typeface="Arial"/>
              <a:cs typeface="Arial"/>
              <a:sym typeface="Arial"/>
            </a:endParaRPr>
          </a:p>
        </p:txBody>
      </p:sp>
      <p:sp>
        <p:nvSpPr>
          <p:cNvPr id="125" name="Google Shape;125;p17"/>
          <p:cNvSpPr/>
          <p:nvPr/>
        </p:nvSpPr>
        <p:spPr>
          <a:xfrm>
            <a:off x="11067749" y="3468207"/>
            <a:ext cx="2835235" cy="725805"/>
          </a:xfrm>
          <a:prstGeom prst="rect">
            <a:avLst/>
          </a:prstGeom>
          <a:noFill/>
          <a:ln>
            <a:noFill/>
          </a:ln>
        </p:spPr>
        <p:txBody>
          <a:bodyPr anchorCtr="0" anchor="t" bIns="0" lIns="0" spcFirstLastPara="1" rIns="0" wrap="square" tIns="0">
            <a:noAutofit/>
          </a:bodyPr>
          <a:lstStyle/>
          <a:p>
            <a:pPr indent="0" lvl="0" marL="0" marR="0" rtl="0" algn="ctr">
              <a:lnSpc>
                <a:spcPct val="178125"/>
              </a:lnSpc>
              <a:spcBef>
                <a:spcPts val="0"/>
              </a:spcBef>
              <a:spcAft>
                <a:spcPts val="0"/>
              </a:spcAft>
              <a:buClr>
                <a:srgbClr val="4A4A45"/>
              </a:buClr>
              <a:buSzPts val="1600"/>
              <a:buFont typeface="Arial"/>
              <a:buNone/>
            </a:pPr>
            <a:r>
              <a:rPr b="0" i="0" lang="en-US" sz="1600" u="none" cap="none" strike="noStrike">
                <a:solidFill>
                  <a:srgbClr val="4A4A45"/>
                </a:solidFill>
                <a:latin typeface="Arial"/>
                <a:ea typeface="Arial"/>
                <a:cs typeface="Arial"/>
                <a:sym typeface="Arial"/>
              </a:rPr>
              <a:t>Duration of data</a:t>
            </a:r>
            <a:endParaRPr b="0" i="0" sz="1400" u="none" cap="none" strike="noStrike">
              <a:solidFill>
                <a:srgbClr val="000000"/>
              </a:solidFill>
              <a:latin typeface="Arial"/>
              <a:ea typeface="Arial"/>
              <a:cs typeface="Arial"/>
              <a:sym typeface="Arial"/>
            </a:endParaRPr>
          </a:p>
          <a:p>
            <a:pPr indent="0" lvl="0" marL="0" marR="0" rtl="0" algn="ctr">
              <a:lnSpc>
                <a:spcPct val="178125"/>
              </a:lnSpc>
              <a:spcBef>
                <a:spcPts val="0"/>
              </a:spcBef>
              <a:spcAft>
                <a:spcPts val="0"/>
              </a:spcAft>
              <a:buClr>
                <a:srgbClr val="4A4A45"/>
              </a:buClr>
              <a:buSzPts val="1600"/>
              <a:buFont typeface="Arial"/>
              <a:buNone/>
            </a:pPr>
            <a:r>
              <a:rPr b="0" i="0" lang="en-US" sz="1600" u="none" cap="none" strike="noStrike">
                <a:solidFill>
                  <a:srgbClr val="4A4A45"/>
                </a:solidFill>
                <a:latin typeface="Arial"/>
                <a:ea typeface="Arial"/>
                <a:cs typeface="Arial"/>
                <a:sym typeface="Arial"/>
              </a:rPr>
              <a:t>1 Jan’25 – 31 March’ 25</a:t>
            </a:r>
            <a:endParaRPr b="0" i="0" sz="16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grpSp>
        <p:nvGrpSpPr>
          <p:cNvPr id="130" name="Google Shape;130;p18"/>
          <p:cNvGrpSpPr/>
          <p:nvPr/>
        </p:nvGrpSpPr>
        <p:grpSpPr>
          <a:xfrm>
            <a:off x="0" y="70905"/>
            <a:ext cx="14630400" cy="756134"/>
            <a:chOff x="0" y="59087"/>
            <a:chExt cx="12192000" cy="630112"/>
          </a:xfrm>
        </p:grpSpPr>
        <p:pic>
          <p:nvPicPr>
            <p:cNvPr id="131" name="Google Shape;131;p18"/>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132" name="Google Shape;132;p18"/>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133" name="Google Shape;133;p18"/>
            <p:cNvSpPr txBox="1"/>
            <p:nvPr/>
          </p:nvSpPr>
          <p:spPr>
            <a:xfrm>
              <a:off x="0" y="90472"/>
              <a:ext cx="12192000" cy="53860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Data Quality</a:t>
              </a:r>
              <a:endParaRPr b="0" i="0" sz="1400" u="none" cap="none" strike="noStrike">
                <a:solidFill>
                  <a:srgbClr val="000000"/>
                </a:solidFill>
                <a:latin typeface="Arial"/>
                <a:ea typeface="Arial"/>
                <a:cs typeface="Arial"/>
                <a:sym typeface="Arial"/>
              </a:endParaRPr>
            </a:p>
          </p:txBody>
        </p:sp>
        <p:pic>
          <p:nvPicPr>
            <p:cNvPr id="134" name="Google Shape;134;p18"/>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pic>
        <p:nvPicPr>
          <p:cNvPr id="135" name="Google Shape;135;p18"/>
          <p:cNvPicPr preferRelativeResize="0"/>
          <p:nvPr/>
        </p:nvPicPr>
        <p:blipFill rotWithShape="1">
          <a:blip r:embed="rId5">
            <a:alphaModFix/>
          </a:blip>
          <a:srcRect b="0" l="0" r="0" t="0"/>
          <a:stretch/>
        </p:blipFill>
        <p:spPr>
          <a:xfrm>
            <a:off x="2400149" y="1883884"/>
            <a:ext cx="8792987" cy="502291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grpSp>
        <p:nvGrpSpPr>
          <p:cNvPr id="140" name="Google Shape;140;p19"/>
          <p:cNvGrpSpPr/>
          <p:nvPr/>
        </p:nvGrpSpPr>
        <p:grpSpPr>
          <a:xfrm>
            <a:off x="0" y="70905"/>
            <a:ext cx="14630400" cy="756134"/>
            <a:chOff x="0" y="59087"/>
            <a:chExt cx="12192000" cy="630112"/>
          </a:xfrm>
        </p:grpSpPr>
        <p:pic>
          <p:nvPicPr>
            <p:cNvPr id="141" name="Google Shape;141;p19"/>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142" name="Google Shape;142;p19"/>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143" name="Google Shape;143;p19"/>
            <p:cNvSpPr txBox="1"/>
            <p:nvPr/>
          </p:nvSpPr>
          <p:spPr>
            <a:xfrm>
              <a:off x="0" y="90472"/>
              <a:ext cx="12192000" cy="53860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Data Quality</a:t>
              </a:r>
              <a:endParaRPr b="0" i="0" sz="1400" u="none" cap="none" strike="noStrike">
                <a:solidFill>
                  <a:srgbClr val="000000"/>
                </a:solidFill>
                <a:latin typeface="Arial"/>
                <a:ea typeface="Arial"/>
                <a:cs typeface="Arial"/>
                <a:sym typeface="Arial"/>
              </a:endParaRPr>
            </a:p>
          </p:txBody>
        </p:sp>
        <p:pic>
          <p:nvPicPr>
            <p:cNvPr id="144" name="Google Shape;144;p19"/>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pic>
        <p:nvPicPr>
          <p:cNvPr id="145" name="Google Shape;145;p19"/>
          <p:cNvPicPr preferRelativeResize="0"/>
          <p:nvPr/>
        </p:nvPicPr>
        <p:blipFill rotWithShape="1">
          <a:blip r:embed="rId5">
            <a:alphaModFix/>
          </a:blip>
          <a:srcRect b="0" l="0" r="0" t="0"/>
          <a:stretch/>
        </p:blipFill>
        <p:spPr>
          <a:xfrm>
            <a:off x="243782" y="1174324"/>
            <a:ext cx="6347453" cy="4268001"/>
          </a:xfrm>
          <a:prstGeom prst="rect">
            <a:avLst/>
          </a:prstGeom>
          <a:noFill/>
          <a:ln>
            <a:noFill/>
          </a:ln>
        </p:spPr>
      </p:pic>
      <p:pic>
        <p:nvPicPr>
          <p:cNvPr id="146" name="Google Shape;146;p19"/>
          <p:cNvPicPr preferRelativeResize="0"/>
          <p:nvPr/>
        </p:nvPicPr>
        <p:blipFill rotWithShape="1">
          <a:blip r:embed="rId6">
            <a:alphaModFix/>
          </a:blip>
          <a:srcRect b="0" l="0" r="0" t="0"/>
          <a:stretch/>
        </p:blipFill>
        <p:spPr>
          <a:xfrm>
            <a:off x="6984693" y="3536414"/>
            <a:ext cx="7315201" cy="44458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grpSp>
        <p:nvGrpSpPr>
          <p:cNvPr id="151" name="Google Shape;151;p20"/>
          <p:cNvGrpSpPr/>
          <p:nvPr/>
        </p:nvGrpSpPr>
        <p:grpSpPr>
          <a:xfrm>
            <a:off x="0" y="70905"/>
            <a:ext cx="14630400" cy="756134"/>
            <a:chOff x="0" y="59087"/>
            <a:chExt cx="12192000" cy="630112"/>
          </a:xfrm>
        </p:grpSpPr>
        <p:pic>
          <p:nvPicPr>
            <p:cNvPr id="152" name="Google Shape;152;p20"/>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153" name="Google Shape;153;p20"/>
            <p:cNvCxnSpPr/>
            <p:nvPr/>
          </p:nvCxnSpPr>
          <p:spPr>
            <a:xfrm>
              <a:off x="1588" y="689199"/>
              <a:ext cx="12188700" cy="0"/>
            </a:xfrm>
            <a:prstGeom prst="straightConnector1">
              <a:avLst/>
            </a:prstGeom>
            <a:noFill/>
            <a:ln cap="flat" cmpd="sng" w="57150">
              <a:solidFill>
                <a:srgbClr val="00B050"/>
              </a:solidFill>
              <a:prstDash val="solid"/>
              <a:miter lim="800000"/>
              <a:headEnd len="sm" w="sm" type="none"/>
              <a:tailEnd len="sm" w="sm" type="none"/>
            </a:ln>
          </p:spPr>
        </p:cxnSp>
        <p:sp>
          <p:nvSpPr>
            <p:cNvPr id="154" name="Google Shape;154;p20"/>
            <p:cNvSpPr txBox="1"/>
            <p:nvPr/>
          </p:nvSpPr>
          <p:spPr>
            <a:xfrm>
              <a:off x="0" y="90472"/>
              <a:ext cx="12192000" cy="538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Data Description</a:t>
              </a:r>
              <a:endParaRPr b="0" i="0" sz="1400" u="none" cap="none" strike="noStrike">
                <a:solidFill>
                  <a:srgbClr val="000000"/>
                </a:solidFill>
                <a:latin typeface="Arial"/>
                <a:ea typeface="Arial"/>
                <a:cs typeface="Arial"/>
                <a:sym typeface="Arial"/>
              </a:endParaRPr>
            </a:p>
          </p:txBody>
        </p:sp>
        <p:pic>
          <p:nvPicPr>
            <p:cNvPr id="155" name="Google Shape;155;p20"/>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pic>
        <p:nvPicPr>
          <p:cNvPr id="156" name="Google Shape;156;p20"/>
          <p:cNvPicPr preferRelativeResize="0"/>
          <p:nvPr/>
        </p:nvPicPr>
        <p:blipFill rotWithShape="1">
          <a:blip r:embed="rId5">
            <a:alphaModFix/>
          </a:blip>
          <a:srcRect b="0" l="0" r="0" t="0"/>
          <a:stretch/>
        </p:blipFill>
        <p:spPr>
          <a:xfrm>
            <a:off x="1908925" y="2004064"/>
            <a:ext cx="10639425" cy="5067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grpSp>
        <p:nvGrpSpPr>
          <p:cNvPr id="161" name="Google Shape;161;p21"/>
          <p:cNvGrpSpPr/>
          <p:nvPr/>
        </p:nvGrpSpPr>
        <p:grpSpPr>
          <a:xfrm>
            <a:off x="0" y="70905"/>
            <a:ext cx="14630400" cy="756134"/>
            <a:chOff x="0" y="59087"/>
            <a:chExt cx="12192000" cy="630112"/>
          </a:xfrm>
        </p:grpSpPr>
        <p:pic>
          <p:nvPicPr>
            <p:cNvPr id="162" name="Google Shape;162;p21"/>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163" name="Google Shape;163;p21"/>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164" name="Google Shape;164;p21"/>
            <p:cNvSpPr txBox="1"/>
            <p:nvPr/>
          </p:nvSpPr>
          <p:spPr>
            <a:xfrm>
              <a:off x="0" y="90472"/>
              <a:ext cx="12192000" cy="5385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Preprocessing</a:t>
              </a:r>
              <a:endParaRPr b="0" i="0" sz="1400" u="none" cap="none" strike="noStrike">
                <a:solidFill>
                  <a:srgbClr val="000000"/>
                </a:solidFill>
                <a:latin typeface="Arial"/>
                <a:ea typeface="Arial"/>
                <a:cs typeface="Arial"/>
                <a:sym typeface="Arial"/>
              </a:endParaRPr>
            </a:p>
          </p:txBody>
        </p:sp>
        <p:pic>
          <p:nvPicPr>
            <p:cNvPr id="165" name="Google Shape;165;p21"/>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
        <p:nvSpPr>
          <p:cNvPr id="166" name="Google Shape;166;p21"/>
          <p:cNvSpPr txBox="1"/>
          <p:nvPr/>
        </p:nvSpPr>
        <p:spPr>
          <a:xfrm>
            <a:off x="537073" y="1278509"/>
            <a:ext cx="5456103" cy="443615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2000" u="none" cap="none" strike="noStrike">
                <a:solidFill>
                  <a:srgbClr val="4F81BD"/>
                </a:solidFill>
                <a:latin typeface="Calibri"/>
                <a:ea typeface="Calibri"/>
                <a:cs typeface="Calibri"/>
                <a:sym typeface="Calibri"/>
              </a:rPr>
              <a:t>1. demo_helper.py – Demographic Clustering</a:t>
            </a:r>
            <a:endParaRPr b="1" i="0" sz="2000" u="none" cap="none" strike="noStrike">
              <a:solidFill>
                <a:srgbClr val="4F81BD"/>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Cambria"/>
                <a:ea typeface="Cambria"/>
                <a:cs typeface="Cambria"/>
                <a:sym typeface="Cambria"/>
              </a:rPr>
              <a:t>- </a:t>
            </a:r>
            <a:r>
              <a:rPr b="0" i="0" lang="en-US" sz="1800" u="none" cap="none" strike="noStrike">
                <a:solidFill>
                  <a:srgbClr val="000000"/>
                </a:solidFill>
                <a:latin typeface="Cambria"/>
                <a:ea typeface="Cambria"/>
                <a:cs typeface="Cambria"/>
                <a:sym typeface="Cambria"/>
              </a:rPr>
              <a:t>Merges citizen and provision data</a:t>
            </a:r>
            <a:endParaRPr b="0" i="0" sz="1800" u="none" cap="none" strike="noStrike">
              <a:solidFill>
                <a:srgbClr val="000000"/>
              </a:solidFill>
              <a:latin typeface="Cambria"/>
              <a:ea typeface="Cambria"/>
              <a:cs typeface="Cambria"/>
              <a:sym typeface="Cambria"/>
            </a:endParaRPr>
          </a:p>
          <a:p>
            <a:pPr indent="0" lvl="0" marL="0" marR="0" rtl="0" algn="l">
              <a:lnSpc>
                <a:spcPct val="115000"/>
              </a:lnSpc>
              <a:spcBef>
                <a:spcPts val="1000"/>
              </a:spcBef>
              <a:spcAft>
                <a:spcPts val="0"/>
              </a:spcAft>
              <a:buClr>
                <a:srgbClr val="000000"/>
              </a:buClr>
              <a:buSzPts val="1800"/>
              <a:buFont typeface="Arial"/>
              <a:buNone/>
            </a:pPr>
            <a:r>
              <a:rPr b="0" i="0" lang="en-US" sz="1800" u="none" cap="none" strike="noStrike">
                <a:solidFill>
                  <a:srgbClr val="000000"/>
                </a:solidFill>
                <a:latin typeface="Cambria"/>
                <a:ea typeface="Cambria"/>
                <a:cs typeface="Cambria"/>
                <a:sym typeface="Cambria"/>
              </a:rPr>
              <a:t>- One-hot encodes service usage</a:t>
            </a:r>
            <a:endParaRPr b="0" i="0" sz="1800" u="none" cap="none" strike="noStrike">
              <a:solidFill>
                <a:srgbClr val="000000"/>
              </a:solidFill>
              <a:latin typeface="Cambria"/>
              <a:ea typeface="Cambria"/>
              <a:cs typeface="Cambria"/>
              <a:sym typeface="Cambria"/>
            </a:endParaRPr>
          </a:p>
          <a:p>
            <a:pPr indent="0" lvl="0" marL="0" marR="0" rtl="0" algn="l">
              <a:lnSpc>
                <a:spcPct val="115000"/>
              </a:lnSpc>
              <a:spcBef>
                <a:spcPts val="1000"/>
              </a:spcBef>
              <a:spcAft>
                <a:spcPts val="0"/>
              </a:spcAft>
              <a:buClr>
                <a:srgbClr val="000000"/>
              </a:buClr>
              <a:buSzPts val="1800"/>
              <a:buFont typeface="Arial"/>
              <a:buNone/>
            </a:pPr>
            <a:r>
              <a:rPr b="0" i="0" lang="en-US" sz="1800" u="none" cap="none" strike="noStrike">
                <a:solidFill>
                  <a:srgbClr val="000000"/>
                </a:solidFill>
                <a:latin typeface="Cambria"/>
                <a:ea typeface="Cambria"/>
                <a:cs typeface="Cambria"/>
                <a:sym typeface="Cambria"/>
              </a:rPr>
              <a:t>- Adds age and religion group tags</a:t>
            </a:r>
            <a:endParaRPr b="0" i="0" sz="1800" u="none" cap="none" strike="noStrike">
              <a:solidFill>
                <a:srgbClr val="000000"/>
              </a:solidFill>
              <a:latin typeface="Cambria"/>
              <a:ea typeface="Cambria"/>
              <a:cs typeface="Cambria"/>
              <a:sym typeface="Cambria"/>
            </a:endParaRPr>
          </a:p>
          <a:p>
            <a:pPr indent="0" lvl="0" marL="0" marR="0" rtl="0" algn="l">
              <a:lnSpc>
                <a:spcPct val="115000"/>
              </a:lnSpc>
              <a:spcBef>
                <a:spcPts val="1000"/>
              </a:spcBef>
              <a:spcAft>
                <a:spcPts val="0"/>
              </a:spcAft>
              <a:buClr>
                <a:srgbClr val="000000"/>
              </a:buClr>
              <a:buSzPts val="1800"/>
              <a:buFont typeface="Arial"/>
              <a:buNone/>
            </a:pPr>
            <a:r>
              <a:rPr b="0" i="0" lang="en-US" sz="1800" u="none" cap="none" strike="noStrike">
                <a:solidFill>
                  <a:srgbClr val="000000"/>
                </a:solidFill>
                <a:latin typeface="Cambria"/>
                <a:ea typeface="Cambria"/>
                <a:cs typeface="Cambria"/>
                <a:sym typeface="Cambria"/>
              </a:rPr>
              <a:t>- Clusters users by demographic profiles</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100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Outputs:</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1" i="0" lang="en-US" sz="1800" u="none" cap="none" strike="noStrike">
                <a:solidFill>
                  <a:srgbClr val="000000"/>
                </a:solidFill>
                <a:latin typeface="Cambria"/>
                <a:ea typeface="Cambria"/>
                <a:cs typeface="Cambria"/>
                <a:sym typeface="Cambria"/>
              </a:rPr>
              <a:t>grouped_df.csv </a:t>
            </a:r>
            <a:r>
              <a:rPr b="0" i="0" lang="en-US" sz="1800" u="none" cap="none" strike="noStrike">
                <a:solidFill>
                  <a:srgbClr val="000000"/>
                </a:solidFill>
                <a:latin typeface="Cambria"/>
                <a:ea typeface="Cambria"/>
                <a:cs typeface="Cambria"/>
                <a:sym typeface="Cambria"/>
              </a:rPr>
              <a:t>– Cluster-wise service usage</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1" i="0" lang="en-US" sz="1800" u="none" cap="none" strike="noStrike">
                <a:solidFill>
                  <a:srgbClr val="000000"/>
                </a:solidFill>
                <a:latin typeface="Cambria"/>
                <a:ea typeface="Cambria"/>
                <a:cs typeface="Cambria"/>
                <a:sym typeface="Cambria"/>
              </a:rPr>
              <a:t>cluster_service_map.pkl </a:t>
            </a:r>
            <a:r>
              <a:rPr b="0" i="0" lang="en-US" sz="1800" u="none" cap="none" strike="noStrike">
                <a:solidFill>
                  <a:srgbClr val="000000"/>
                </a:solidFill>
                <a:latin typeface="Cambria"/>
                <a:ea typeface="Cambria"/>
                <a:cs typeface="Cambria"/>
                <a:sym typeface="Cambria"/>
              </a:rPr>
              <a:t>– Top services per cluster</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1" i="0" lang="en-US" sz="1800" u="none" cap="none" strike="noStrike">
                <a:solidFill>
                  <a:srgbClr val="000000"/>
                </a:solidFill>
                <a:latin typeface="Cambria"/>
                <a:ea typeface="Cambria"/>
                <a:cs typeface="Cambria"/>
                <a:sym typeface="Cambria"/>
              </a:rPr>
              <a:t>service_id_with_name.csv </a:t>
            </a:r>
            <a:r>
              <a:rPr b="0" i="0" lang="en-US" sz="1800" u="none" cap="none" strike="noStrike">
                <a:solidFill>
                  <a:srgbClr val="000000"/>
                </a:solidFill>
                <a:latin typeface="Cambria"/>
                <a:ea typeface="Cambria"/>
                <a:cs typeface="Cambria"/>
                <a:sym typeface="Cambria"/>
              </a:rPr>
              <a:t>– ID-to-name mapping</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 </a:t>
            </a:r>
            <a:r>
              <a:rPr b="1" i="0" lang="en-US" sz="1800" u="none" cap="none" strike="noStrike">
                <a:solidFill>
                  <a:srgbClr val="000000"/>
                </a:solidFill>
                <a:latin typeface="Cambria"/>
                <a:ea typeface="Cambria"/>
                <a:cs typeface="Cambria"/>
                <a:sym typeface="Cambria"/>
              </a:rPr>
              <a:t>final_df.csv </a:t>
            </a:r>
            <a:r>
              <a:rPr b="0" i="0" lang="en-US" sz="1800" u="none" cap="none" strike="noStrike">
                <a:solidFill>
                  <a:srgbClr val="000000"/>
                </a:solidFill>
                <a:latin typeface="Cambria"/>
                <a:ea typeface="Cambria"/>
                <a:cs typeface="Cambria"/>
                <a:sym typeface="Cambria"/>
              </a:rPr>
              <a:t>– Preprocessed user-service data for   fast look-up (one hot encoding done for each user)</a:t>
            </a:r>
            <a:endParaRPr b="0" i="0" sz="1800" u="none" cap="none" strike="noStrike">
              <a:solidFill>
                <a:srgbClr val="000000"/>
              </a:solidFill>
              <a:latin typeface="Cambria"/>
              <a:ea typeface="Cambria"/>
              <a:cs typeface="Cambria"/>
              <a:sym typeface="Cambria"/>
            </a:endParaRPr>
          </a:p>
        </p:txBody>
      </p:sp>
      <p:sp>
        <p:nvSpPr>
          <p:cNvPr id="167" name="Google Shape;167;p21"/>
          <p:cNvSpPr txBox="1"/>
          <p:nvPr/>
        </p:nvSpPr>
        <p:spPr>
          <a:xfrm>
            <a:off x="6816687" y="1278509"/>
            <a:ext cx="6392537" cy="303371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4F81BD"/>
                </a:solidFill>
                <a:latin typeface="Calibri"/>
                <a:ea typeface="Calibri"/>
                <a:cs typeface="Calibri"/>
                <a:sym typeface="Calibri"/>
              </a:rPr>
              <a:t>2. content_helper.py – Content-Based Recommendation </a:t>
            </a:r>
            <a:endParaRPr b="1" i="0" sz="2000" u="none" cap="none" strike="noStrike">
              <a:solidFill>
                <a:srgbClr val="4F81BD"/>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000000"/>
                </a:solidFill>
                <a:latin typeface="Cambria"/>
                <a:ea typeface="Cambria"/>
                <a:cs typeface="Cambria"/>
                <a:sym typeface="Cambria"/>
              </a:rPr>
              <a:t>- </a:t>
            </a:r>
            <a:r>
              <a:rPr b="0" i="0" lang="en-US" sz="1800" u="none" cap="none" strike="noStrike">
                <a:solidFill>
                  <a:srgbClr val="000000"/>
                </a:solidFill>
                <a:latin typeface="Cambria"/>
                <a:ea typeface="Cambria"/>
                <a:cs typeface="Cambria"/>
                <a:sym typeface="Cambria"/>
              </a:rPr>
              <a:t>Enhances service descriptions via prompting</a:t>
            </a:r>
            <a:endParaRPr b="0" i="0" sz="1800" u="none" cap="none" strike="noStrike">
              <a:solidFill>
                <a:srgbClr val="000000"/>
              </a:solidFill>
              <a:latin typeface="Cambria"/>
              <a:ea typeface="Cambria"/>
              <a:cs typeface="Cambria"/>
              <a:sym typeface="Cambria"/>
            </a:endParaRPr>
          </a:p>
          <a:p>
            <a:pPr indent="0" lvl="0" marL="0" marR="0" rtl="0" algn="l">
              <a:lnSpc>
                <a:spcPct val="115000"/>
              </a:lnSpc>
              <a:spcBef>
                <a:spcPts val="1000"/>
              </a:spcBef>
              <a:spcAft>
                <a:spcPts val="0"/>
              </a:spcAft>
              <a:buClr>
                <a:srgbClr val="000000"/>
              </a:buClr>
              <a:buSzPts val="1800"/>
              <a:buFont typeface="Arial"/>
              <a:buNone/>
            </a:pPr>
            <a:r>
              <a:rPr b="0" i="0" lang="en-US" sz="1800" u="none" cap="none" strike="noStrike">
                <a:solidFill>
                  <a:srgbClr val="000000"/>
                </a:solidFill>
                <a:latin typeface="Cambria"/>
                <a:ea typeface="Cambria"/>
                <a:cs typeface="Cambria"/>
                <a:sym typeface="Cambria"/>
              </a:rPr>
              <a:t>- Generates embeddings using OpenAI</a:t>
            </a:r>
            <a:endParaRPr b="0" i="0" sz="1800" u="none" cap="none" strike="noStrike">
              <a:solidFill>
                <a:srgbClr val="000000"/>
              </a:solidFill>
              <a:latin typeface="Cambria"/>
              <a:ea typeface="Cambria"/>
              <a:cs typeface="Cambria"/>
              <a:sym typeface="Cambria"/>
            </a:endParaRPr>
          </a:p>
          <a:p>
            <a:pPr indent="0" lvl="0" marL="0" marR="0" rtl="0" algn="l">
              <a:lnSpc>
                <a:spcPct val="115000"/>
              </a:lnSpc>
              <a:spcBef>
                <a:spcPts val="1000"/>
              </a:spcBef>
              <a:spcAft>
                <a:spcPts val="0"/>
              </a:spcAft>
              <a:buClr>
                <a:srgbClr val="000000"/>
              </a:buClr>
              <a:buSzPts val="1800"/>
              <a:buFont typeface="Arial"/>
              <a:buNone/>
            </a:pPr>
            <a:r>
              <a:rPr b="0" i="0" lang="en-US" sz="1800" u="none" cap="none" strike="noStrike">
                <a:solidFill>
                  <a:srgbClr val="000000"/>
                </a:solidFill>
                <a:latin typeface="Cambria"/>
                <a:ea typeface="Cambria"/>
                <a:cs typeface="Cambria"/>
                <a:sym typeface="Cambria"/>
              </a:rPr>
              <a:t>- Computes cosine similarity between services</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100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Outputs:</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1" i="0" lang="en-US" sz="1800" u="none" cap="none" strike="noStrike">
                <a:solidFill>
                  <a:srgbClr val="000000"/>
                </a:solidFill>
                <a:latin typeface="Cambria"/>
                <a:ea typeface="Cambria"/>
                <a:cs typeface="Cambria"/>
                <a:sym typeface="Cambria"/>
              </a:rPr>
              <a:t>service_master_enhanced.csv </a:t>
            </a:r>
            <a:r>
              <a:rPr b="0" i="0" lang="en-US" sz="1800" u="none" cap="none" strike="noStrike">
                <a:solidFill>
                  <a:srgbClr val="000000"/>
                </a:solidFill>
                <a:latin typeface="Cambria"/>
                <a:ea typeface="Cambria"/>
                <a:cs typeface="Cambria"/>
                <a:sym typeface="Cambria"/>
              </a:rPr>
              <a:t>– Enriched service descriptions</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1" i="0" lang="en-US" sz="1800" u="none" cap="none" strike="noStrike">
                <a:solidFill>
                  <a:srgbClr val="000000"/>
                </a:solidFill>
                <a:latin typeface="Cambria"/>
                <a:ea typeface="Cambria"/>
                <a:cs typeface="Cambria"/>
                <a:sym typeface="Cambria"/>
              </a:rPr>
              <a:t>openai_similarity_matrix.csv </a:t>
            </a:r>
            <a:r>
              <a:rPr b="0" i="0" lang="en-US" sz="1800" u="none" cap="none" strike="noStrike">
                <a:solidFill>
                  <a:srgbClr val="000000"/>
                </a:solidFill>
                <a:latin typeface="Cambria"/>
                <a:ea typeface="Cambria"/>
                <a:cs typeface="Cambria"/>
                <a:sym typeface="Cambria"/>
              </a:rPr>
              <a:t>– Service similarity scores</a:t>
            </a:r>
            <a:endParaRPr b="0" i="0" sz="1800" u="none" cap="none" strike="noStrike">
              <a:solidFill>
                <a:srgbClr val="000000"/>
              </a:solidFill>
              <a:latin typeface="Cambria"/>
              <a:ea typeface="Cambria"/>
              <a:cs typeface="Cambria"/>
              <a:sym typeface="Cambria"/>
            </a:endParaRPr>
          </a:p>
        </p:txBody>
      </p:sp>
      <p:sp>
        <p:nvSpPr>
          <p:cNvPr id="168" name="Google Shape;168;p21"/>
          <p:cNvSpPr txBox="1"/>
          <p:nvPr/>
        </p:nvSpPr>
        <p:spPr>
          <a:xfrm>
            <a:off x="6970923" y="4749062"/>
            <a:ext cx="5588306" cy="2268378"/>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4F81BD"/>
                </a:solidFill>
                <a:latin typeface="Calibri"/>
                <a:ea typeface="Calibri"/>
                <a:cs typeface="Calibri"/>
                <a:sym typeface="Calibri"/>
              </a:rPr>
              <a:t>3. district_helper.py – District Service Aggregation</a:t>
            </a:r>
            <a:endParaRPr b="1" i="0" sz="2000" u="none" cap="none" strike="noStrike">
              <a:solidFill>
                <a:srgbClr val="4F81BD"/>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Cambria"/>
                <a:ea typeface="Cambria"/>
                <a:cs typeface="Cambria"/>
                <a:sym typeface="Cambria"/>
              </a:rPr>
              <a:t>- </a:t>
            </a:r>
            <a:r>
              <a:rPr b="0" i="0" lang="en-US" sz="1800" u="none" cap="none" strike="noStrike">
                <a:solidFill>
                  <a:srgbClr val="000000"/>
                </a:solidFill>
                <a:latin typeface="Cambria"/>
                <a:ea typeface="Cambria"/>
                <a:cs typeface="Cambria"/>
                <a:sym typeface="Cambria"/>
              </a:rPr>
              <a:t>Analyzes service usage by district</a:t>
            </a:r>
            <a:endParaRPr b="0" i="0" sz="1800" u="none" cap="none" strike="noStrike">
              <a:solidFill>
                <a:srgbClr val="000000"/>
              </a:solidFill>
              <a:latin typeface="Cambria"/>
              <a:ea typeface="Cambria"/>
              <a:cs typeface="Cambria"/>
              <a:sym typeface="Cambria"/>
            </a:endParaRPr>
          </a:p>
          <a:p>
            <a:pPr indent="0" lvl="0" marL="0" marR="0" rtl="0" algn="l">
              <a:lnSpc>
                <a:spcPct val="115000"/>
              </a:lnSpc>
              <a:spcBef>
                <a:spcPts val="1000"/>
              </a:spcBef>
              <a:spcAft>
                <a:spcPts val="0"/>
              </a:spcAft>
              <a:buClr>
                <a:srgbClr val="000000"/>
              </a:buClr>
              <a:buSzPts val="1800"/>
              <a:buFont typeface="Arial"/>
              <a:buNone/>
            </a:pPr>
            <a:r>
              <a:rPr b="0" i="0" lang="en-US" sz="1800" u="none" cap="none" strike="noStrike">
                <a:solidFill>
                  <a:srgbClr val="000000"/>
                </a:solidFill>
                <a:latin typeface="Cambria"/>
                <a:ea typeface="Cambria"/>
                <a:cs typeface="Cambria"/>
                <a:sym typeface="Cambria"/>
              </a:rPr>
              <a:t>- Ranks services by unique user count</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100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Output:</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 district_top_services.csv – Top 20 services per district</a:t>
            </a:r>
            <a:endParaRPr b="0" i="0" sz="1800" u="none" cap="none" strike="noStrike">
              <a:solidFill>
                <a:srgbClr val="000000"/>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pSp>
        <p:nvGrpSpPr>
          <p:cNvPr id="173" name="Google Shape;173;p22"/>
          <p:cNvGrpSpPr/>
          <p:nvPr/>
        </p:nvGrpSpPr>
        <p:grpSpPr>
          <a:xfrm>
            <a:off x="0" y="70905"/>
            <a:ext cx="14630400" cy="756134"/>
            <a:chOff x="0" y="59087"/>
            <a:chExt cx="12192000" cy="630112"/>
          </a:xfrm>
        </p:grpSpPr>
        <p:pic>
          <p:nvPicPr>
            <p:cNvPr id="174" name="Google Shape;174;p22"/>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175" name="Google Shape;175;p22"/>
            <p:cNvCxnSpPr/>
            <p:nvPr/>
          </p:nvCxnSpPr>
          <p:spPr>
            <a:xfrm>
              <a:off x="1588" y="689199"/>
              <a:ext cx="12188700" cy="0"/>
            </a:xfrm>
            <a:prstGeom prst="straightConnector1">
              <a:avLst/>
            </a:prstGeom>
            <a:noFill/>
            <a:ln cap="flat" cmpd="sng" w="57150">
              <a:solidFill>
                <a:srgbClr val="00B050"/>
              </a:solidFill>
              <a:prstDash val="solid"/>
              <a:miter lim="800000"/>
              <a:headEnd len="sm" w="sm" type="none"/>
              <a:tailEnd len="sm" w="sm" type="none"/>
            </a:ln>
          </p:spPr>
        </p:cxnSp>
        <p:sp>
          <p:nvSpPr>
            <p:cNvPr id="176" name="Google Shape;176;p22"/>
            <p:cNvSpPr txBox="1"/>
            <p:nvPr/>
          </p:nvSpPr>
          <p:spPr>
            <a:xfrm>
              <a:off x="0" y="90472"/>
              <a:ext cx="12192000" cy="538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Data Enhancement</a:t>
              </a:r>
              <a:endParaRPr b="0" i="0" sz="1400" u="none" cap="none" strike="noStrike">
                <a:solidFill>
                  <a:srgbClr val="000000"/>
                </a:solidFill>
                <a:latin typeface="Arial"/>
                <a:ea typeface="Arial"/>
                <a:cs typeface="Arial"/>
                <a:sym typeface="Arial"/>
              </a:endParaRPr>
            </a:p>
          </p:txBody>
        </p:sp>
        <p:pic>
          <p:nvPicPr>
            <p:cNvPr id="177" name="Google Shape;177;p22"/>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
        <p:nvSpPr>
          <p:cNvPr id="178" name="Google Shape;178;p22"/>
          <p:cNvSpPr txBox="1"/>
          <p:nvPr/>
        </p:nvSpPr>
        <p:spPr>
          <a:xfrm>
            <a:off x="851800" y="1321300"/>
            <a:ext cx="13119000" cy="611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1800" u="none" cap="none" strike="noStrike">
                <a:solidFill>
                  <a:srgbClr val="000000"/>
                </a:solidFill>
                <a:latin typeface="Arial"/>
                <a:ea typeface="Arial"/>
                <a:cs typeface="Arial"/>
                <a:sym typeface="Arial"/>
              </a:rPr>
              <a:t>        "</a:t>
            </a:r>
            <a:r>
              <a:rPr b="1" lang="en-US" sz="1800"/>
              <a:t>prompt_template</a:t>
            </a:r>
            <a:r>
              <a:rPr lang="en-US" sz="1800"/>
              <a:t> = (</a:t>
            </a:r>
            <a:endParaRPr sz="1800"/>
          </a:p>
          <a:p>
            <a:pPr indent="0" lvl="0" marL="0" rtl="0" algn="l">
              <a:spcBef>
                <a:spcPts val="0"/>
              </a:spcBef>
              <a:spcAft>
                <a:spcPts val="0"/>
              </a:spcAft>
              <a:buClr>
                <a:schemeClr val="dk1"/>
              </a:buClr>
              <a:buSzPts val="1100"/>
              <a:buFont typeface="Arial"/>
              <a:buNone/>
            </a:pPr>
            <a:r>
              <a:rPr lang="en-US" sz="1800"/>
              <a:t>        "You are a helpful assistant for BSK in West Bengal providing government services to common citizens, that enhances service descriptions.\n"</a:t>
            </a:r>
            <a:endParaRPr sz="1800"/>
          </a:p>
          <a:p>
            <a:pPr indent="0" lvl="0" marL="0" rtl="0" algn="l">
              <a:spcBef>
                <a:spcPts val="0"/>
              </a:spcBef>
              <a:spcAft>
                <a:spcPts val="0"/>
              </a:spcAft>
              <a:buClr>
                <a:schemeClr val="dk1"/>
              </a:buClr>
              <a:buSzPts val="1100"/>
              <a:buFont typeface="Arial"/>
              <a:buNone/>
            </a:pPr>
            <a:r>
              <a:rPr lang="en-US" sz="1800"/>
              <a:t>        "Do not use any special characters or formatting.\n"</a:t>
            </a:r>
            <a:endParaRPr sz="1800"/>
          </a:p>
          <a:p>
            <a:pPr indent="0" lvl="0" marL="0" rtl="0" algn="l">
              <a:spcBef>
                <a:spcPts val="0"/>
              </a:spcBef>
              <a:spcAft>
                <a:spcPts val="0"/>
              </a:spcAft>
              <a:buClr>
                <a:schemeClr val="dk1"/>
              </a:buClr>
              <a:buSzPts val="1100"/>
              <a:buFont typeface="Arial"/>
              <a:buNone/>
            </a:pPr>
            <a:r>
              <a:rPr lang="en-US" sz="1800"/>
              <a:t>        "Your task is to enhance the service description by making it more informative, concise, and structured.\n"</a:t>
            </a:r>
            <a:endParaRPr sz="1800"/>
          </a:p>
          <a:p>
            <a:pPr indent="0" lvl="0" marL="0" rtl="0" algn="l">
              <a:spcBef>
                <a:spcPts val="0"/>
              </a:spcBef>
              <a:spcAft>
                <a:spcPts val="0"/>
              </a:spcAft>
              <a:buClr>
                <a:schemeClr val="dk1"/>
              </a:buClr>
              <a:buSzPts val="1100"/>
              <a:buFont typeface="Arial"/>
              <a:buNone/>
            </a:pPr>
            <a:r>
              <a:rPr lang="en-US" sz="1800"/>
              <a:t>        "Do not hallucinate or make up information.\n"</a:t>
            </a:r>
            <a:endParaRPr sz="1800"/>
          </a:p>
          <a:p>
            <a:pPr indent="0" lvl="0" marL="0" rtl="0" algn="l">
              <a:spcBef>
                <a:spcPts val="0"/>
              </a:spcBef>
              <a:spcAft>
                <a:spcPts val="0"/>
              </a:spcAft>
              <a:buClr>
                <a:schemeClr val="dk1"/>
              </a:buClr>
              <a:buSzPts val="1100"/>
              <a:buFont typeface="Arial"/>
              <a:buNone/>
            </a:pPr>
            <a:r>
              <a:rPr lang="en-US" sz="1800"/>
              <a:t>        "Example:\n"</a:t>
            </a:r>
            <a:endParaRPr sz="1800"/>
          </a:p>
          <a:p>
            <a:pPr indent="0" lvl="0" marL="0" rtl="0" algn="l">
              <a:spcBef>
                <a:spcPts val="0"/>
              </a:spcBef>
              <a:spcAft>
                <a:spcPts val="0"/>
              </a:spcAft>
              <a:buClr>
                <a:schemeClr val="dk1"/>
              </a:buClr>
              <a:buSzPts val="1100"/>
              <a:buFont typeface="Arial"/>
              <a:buNone/>
            </a:pPr>
            <a:r>
              <a:rPr lang="en-US" sz="1800"/>
              <a:t>        "Original: It is a conditional cash transfer scheme with the aim of improving the status and well-being of the girl child.\n"</a:t>
            </a:r>
            <a:endParaRPr sz="1800"/>
          </a:p>
          <a:p>
            <a:pPr indent="0" lvl="0" marL="0" rtl="0" algn="l">
              <a:spcBef>
                <a:spcPts val="0"/>
              </a:spcBef>
              <a:spcAft>
                <a:spcPts val="0"/>
              </a:spcAft>
              <a:buClr>
                <a:schemeClr val="dk1"/>
              </a:buClr>
              <a:buSzPts val="1100"/>
              <a:buFont typeface="Arial"/>
              <a:buNone/>
            </a:pPr>
            <a:r>
              <a:rPr lang="en-US" sz="1800"/>
              <a:t>        "Enhanced: A flagship conditional cash transfer scholarship for unmarried girls aged 13–18 in West Bengal offering ₹750 annual and ₹25,000 one-time grant at 18, supporting education and delaying marriage."</a:t>
            </a:r>
            <a:endParaRPr sz="1800"/>
          </a:p>
          <a:p>
            <a:pPr indent="0" lvl="0" marL="0" rtl="0" algn="l">
              <a:spcBef>
                <a:spcPts val="0"/>
              </a:spcBef>
              <a:spcAft>
                <a:spcPts val="0"/>
              </a:spcAft>
              <a:buClr>
                <a:schemeClr val="dk1"/>
              </a:buClr>
              <a:buSzPts val="1100"/>
              <a:buFont typeface="Arial"/>
              <a:buNone/>
            </a:pPr>
            <a:r>
              <a:rPr lang="en-US" sz="1800"/>
              <a:t>        " The online system uses Applicant ID/DOB/Captcha to track application status; funds are transferred via bank. Primary Domain: Education (80%), Cross-Domain: Social Welfare, Legal Services (age/marital proof), Finance, Public Services (wbkanyashree.gov.in, buddy4study.com)\n\n"</a:t>
            </a:r>
            <a:endParaRPr sz="1800"/>
          </a:p>
          <a:p>
            <a:pPr indent="0" lvl="0" marL="0" rtl="0" algn="l">
              <a:spcBef>
                <a:spcPts val="0"/>
              </a:spcBef>
              <a:spcAft>
                <a:spcPts val="0"/>
              </a:spcAft>
              <a:buClr>
                <a:schemeClr val="dk1"/>
              </a:buClr>
              <a:buSzPts val="1100"/>
              <a:buFont typeface="Arial"/>
              <a:buNone/>
            </a:pPr>
            <a:r>
              <a:rPr lang="en-US" sz="1800"/>
              <a:t>        "Example:\n"</a:t>
            </a:r>
            <a:endParaRPr sz="1800"/>
          </a:p>
          <a:p>
            <a:pPr indent="0" lvl="0" marL="0" rtl="0" algn="l">
              <a:spcBef>
                <a:spcPts val="0"/>
              </a:spcBef>
              <a:spcAft>
                <a:spcPts val="0"/>
              </a:spcAft>
              <a:buClr>
                <a:schemeClr val="dk1"/>
              </a:buClr>
              <a:buSzPts val="1100"/>
              <a:buFont typeface="Arial"/>
              <a:buNone/>
            </a:pPr>
            <a:r>
              <a:rPr lang="en-US" sz="1800"/>
              <a:t>        "Original: Income certificate is an essential legal document which serves as a proof of an individual annual income earned from all sources.\n"</a:t>
            </a:r>
            <a:endParaRPr sz="1800"/>
          </a:p>
          <a:p>
            <a:pPr indent="0" lvl="0" marL="0" rtl="0" algn="l">
              <a:spcBef>
                <a:spcPts val="0"/>
              </a:spcBef>
              <a:spcAft>
                <a:spcPts val="0"/>
              </a:spcAft>
              <a:buClr>
                <a:schemeClr val="dk1"/>
              </a:buClr>
              <a:buSzPts val="1100"/>
              <a:buFont typeface="Arial"/>
              <a:buNone/>
            </a:pPr>
            <a:r>
              <a:rPr lang="en-US" sz="1800"/>
              <a:t>        "Enhanced: Digital portal to apply for and receive income certificates via bank statements or affidavits, crucial for subsidies, scholarships, fee waivers, housing and welfare eligibility. Works via upload, verification, and digital issuance."</a:t>
            </a:r>
            <a:endParaRPr sz="1800"/>
          </a:p>
          <a:p>
            <a:pPr indent="0" lvl="0" marL="0" rtl="0" algn="l">
              <a:spcBef>
                <a:spcPts val="0"/>
              </a:spcBef>
              <a:spcAft>
                <a:spcPts val="0"/>
              </a:spcAft>
              <a:buClr>
                <a:schemeClr val="dk1"/>
              </a:buClr>
              <a:buSzPts val="1100"/>
              <a:buFont typeface="Arial"/>
              <a:buNone/>
            </a:pPr>
            <a:r>
              <a:rPr lang="en-US" sz="1800"/>
              <a:t>        " Primary Domain: Certificates (80%), Cross-Domain: Finance, Social Welfare, Legal Services\n\n"</a:t>
            </a:r>
            <a:endParaRPr sz="1800"/>
          </a:p>
          <a:p>
            <a:pPr indent="0" lvl="0" marL="0" rtl="0" algn="l">
              <a:spcBef>
                <a:spcPts val="0"/>
              </a:spcBef>
              <a:spcAft>
                <a:spcPts val="0"/>
              </a:spcAft>
              <a:buClr>
                <a:schemeClr val="dk1"/>
              </a:buClr>
              <a:buSzPts val="1100"/>
              <a:buFont typeface="Arial"/>
              <a:buNone/>
            </a:pPr>
            <a:r>
              <a:rPr lang="en-US" sz="1800"/>
              <a:t>        "Original: {orig}\n"</a:t>
            </a:r>
            <a:endParaRPr sz="1800"/>
          </a:p>
          <a:p>
            <a:pPr indent="0" lvl="0" marL="0" rtl="0" algn="l">
              <a:spcBef>
                <a:spcPts val="0"/>
              </a:spcBef>
              <a:spcAft>
                <a:spcPts val="0"/>
              </a:spcAft>
              <a:buClr>
                <a:schemeClr val="dk1"/>
              </a:buClr>
              <a:buSzPts val="1100"/>
              <a:buFont typeface="Arial"/>
              <a:buNone/>
            </a:pPr>
            <a:r>
              <a:rPr lang="en-US" sz="1800"/>
              <a:t>        "Enhanced:"</a:t>
            </a:r>
            <a:endParaRPr sz="1800"/>
          </a:p>
          <a:p>
            <a:pPr indent="0" lvl="0" marL="0" rtl="0" algn="l">
              <a:spcBef>
                <a:spcPts val="0"/>
              </a:spcBef>
              <a:spcAft>
                <a:spcPts val="0"/>
              </a:spcAft>
              <a:buClr>
                <a:schemeClr val="dk1"/>
              </a:buClr>
              <a:buSzPts val="1100"/>
              <a:buFont typeface="Arial"/>
              <a:buNone/>
            </a:pPr>
            <a:r>
              <a:rPr lang="en-US" sz="1800"/>
              <a:t>    )</a:t>
            </a:r>
            <a:endParaRPr sz="1800"/>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0000"/>
              </a:buClr>
              <a:buSzPts val="2000"/>
              <a:buFont typeface="Arial"/>
              <a:buNone/>
            </a:pPr>
            <a:r>
              <a:rPr b="0" i="0" lang="en-US" u="none" cap="none" strike="noStrike">
                <a:solidFill>
                  <a:srgbClr val="000000"/>
                </a:solidFill>
                <a:latin typeface="Arial"/>
                <a:ea typeface="Arial"/>
                <a:cs typeface="Arial"/>
                <a:sym typeface="Arial"/>
              </a:rPr>
              <a:t>        </a:t>
            </a:r>
            <a:endParaRPr b="0" i="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graphicFrame>
        <p:nvGraphicFramePr>
          <p:cNvPr id="183" name="Google Shape;183;p23"/>
          <p:cNvGraphicFramePr/>
          <p:nvPr/>
        </p:nvGraphicFramePr>
        <p:xfrm>
          <a:off x="2587075" y="2063875"/>
          <a:ext cx="3000000" cy="3000000"/>
        </p:xfrm>
        <a:graphic>
          <a:graphicData uri="http://schemas.openxmlformats.org/drawingml/2006/table">
            <a:tbl>
              <a:tblPr>
                <a:noFill/>
                <a:tableStyleId>{A99100FA-C009-4A55-A7E8-944A87B3DE17}</a:tableStyleId>
              </a:tblPr>
              <a:tblGrid>
                <a:gridCol w="2895600"/>
                <a:gridCol w="6859500"/>
              </a:tblGrid>
              <a:tr h="770750">
                <a:tc>
                  <a:txBody>
                    <a:bodyPr/>
                    <a:lstStyle/>
                    <a:p>
                      <a:pPr indent="0" lvl="0" marL="0" rtl="0" algn="ctr">
                        <a:lnSpc>
                          <a:spcPct val="115000"/>
                        </a:lnSpc>
                        <a:spcBef>
                          <a:spcPts val="1200"/>
                        </a:spcBef>
                        <a:spcAft>
                          <a:spcPts val="0"/>
                        </a:spcAft>
                        <a:buNone/>
                      </a:pPr>
                      <a:r>
                        <a:rPr b="1" lang="en-US" sz="2000"/>
                        <a:t>Name</a:t>
                      </a:r>
                      <a:endParaRPr b="1" sz="2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1200"/>
                        </a:spcBef>
                        <a:spcAft>
                          <a:spcPts val="0"/>
                        </a:spcAft>
                        <a:buNone/>
                      </a:pPr>
                      <a:r>
                        <a:rPr b="1" lang="en-US" sz="2000"/>
                        <a:t>Reason why it is used</a:t>
                      </a:r>
                      <a:endParaRPr b="1" sz="2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165725">
                <a:tc>
                  <a:txBody>
                    <a:bodyPr/>
                    <a:lstStyle/>
                    <a:p>
                      <a:pPr indent="0" lvl="0" marL="0" rtl="0" algn="l">
                        <a:lnSpc>
                          <a:spcPct val="115000"/>
                        </a:lnSpc>
                        <a:spcBef>
                          <a:spcPts val="1200"/>
                        </a:spcBef>
                        <a:spcAft>
                          <a:spcPts val="0"/>
                        </a:spcAft>
                        <a:buNone/>
                      </a:pPr>
                      <a:r>
                        <a:rPr b="1" lang="en-US" sz="2000">
                          <a:latin typeface="Cambria"/>
                          <a:ea typeface="Cambria"/>
                          <a:cs typeface="Cambria"/>
                          <a:sym typeface="Cambria"/>
                        </a:rPr>
                        <a:t>Python</a:t>
                      </a:r>
                      <a:endParaRPr b="1"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US" sz="2000">
                          <a:latin typeface="Cambria"/>
                          <a:ea typeface="Cambria"/>
                          <a:cs typeface="Cambria"/>
                          <a:sym typeface="Cambria"/>
                        </a:rPr>
                        <a:t>Mature and comprehensive AIML ecosystem, open source, flexible</a:t>
                      </a:r>
                      <a:endParaRPr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70750">
                <a:tc>
                  <a:txBody>
                    <a:bodyPr/>
                    <a:lstStyle/>
                    <a:p>
                      <a:pPr indent="0" lvl="0" marL="0" rtl="0" algn="l">
                        <a:lnSpc>
                          <a:spcPct val="115000"/>
                        </a:lnSpc>
                        <a:spcBef>
                          <a:spcPts val="1200"/>
                        </a:spcBef>
                        <a:spcAft>
                          <a:spcPts val="0"/>
                        </a:spcAft>
                        <a:buNone/>
                      </a:pPr>
                      <a:r>
                        <a:rPr b="1" lang="en-US" sz="2000">
                          <a:latin typeface="Cambria"/>
                          <a:ea typeface="Cambria"/>
                          <a:cs typeface="Cambria"/>
                          <a:sym typeface="Cambria"/>
                        </a:rPr>
                        <a:t>Streamlit</a:t>
                      </a:r>
                      <a:endParaRPr b="1"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US" sz="2000">
                          <a:latin typeface="Cambria"/>
                          <a:ea typeface="Cambria"/>
                          <a:cs typeface="Cambria"/>
                          <a:sym typeface="Cambria"/>
                        </a:rPr>
                        <a:t>To display and interact with the system (Frontend Layer)</a:t>
                      </a:r>
                      <a:endParaRPr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165725">
                <a:tc>
                  <a:txBody>
                    <a:bodyPr/>
                    <a:lstStyle/>
                    <a:p>
                      <a:pPr indent="0" lvl="0" marL="0" rtl="0" algn="l">
                        <a:lnSpc>
                          <a:spcPct val="115000"/>
                        </a:lnSpc>
                        <a:spcBef>
                          <a:spcPts val="1200"/>
                        </a:spcBef>
                        <a:spcAft>
                          <a:spcPts val="0"/>
                        </a:spcAft>
                        <a:buNone/>
                      </a:pPr>
                      <a:r>
                        <a:rPr b="1" lang="en-US" sz="2000">
                          <a:latin typeface="Cambria"/>
                          <a:ea typeface="Cambria"/>
                          <a:cs typeface="Cambria"/>
                          <a:sym typeface="Cambria"/>
                        </a:rPr>
                        <a:t>FastAPI</a:t>
                      </a:r>
                      <a:endParaRPr b="1"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US" sz="2000">
                          <a:latin typeface="Cambria"/>
                          <a:ea typeface="Cambria"/>
                          <a:cs typeface="Cambria"/>
                          <a:sym typeface="Cambria"/>
                        </a:rPr>
                        <a:t>REST API for BSK data, service recommendations, analytics, High performance for AI service endpoints</a:t>
                      </a:r>
                      <a:endParaRPr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70750">
                <a:tc>
                  <a:txBody>
                    <a:bodyPr/>
                    <a:lstStyle/>
                    <a:p>
                      <a:pPr indent="0" lvl="0" marL="0" rtl="0" algn="l">
                        <a:lnSpc>
                          <a:spcPct val="115000"/>
                        </a:lnSpc>
                        <a:spcBef>
                          <a:spcPts val="1200"/>
                        </a:spcBef>
                        <a:spcAft>
                          <a:spcPts val="0"/>
                        </a:spcAft>
                        <a:buNone/>
                      </a:pPr>
                      <a:r>
                        <a:rPr b="1" lang="en-US" sz="2000">
                          <a:latin typeface="Cambria"/>
                          <a:ea typeface="Cambria"/>
                          <a:cs typeface="Cambria"/>
                          <a:sym typeface="Cambria"/>
                        </a:rPr>
                        <a:t>PostgreSQL</a:t>
                      </a:r>
                      <a:endParaRPr b="1"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US" sz="2000">
                          <a:latin typeface="Cambria"/>
                          <a:ea typeface="Cambria"/>
                          <a:cs typeface="Cambria"/>
                          <a:sym typeface="Cambria"/>
                        </a:rPr>
                        <a:t>Enterprise grade database, BSK uses this.</a:t>
                      </a:r>
                      <a:endParaRPr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70750">
                <a:tc>
                  <a:txBody>
                    <a:bodyPr/>
                    <a:lstStyle/>
                    <a:p>
                      <a:pPr indent="0" lvl="0" marL="0" rtl="0" algn="l">
                        <a:lnSpc>
                          <a:spcPct val="115000"/>
                        </a:lnSpc>
                        <a:spcBef>
                          <a:spcPts val="1200"/>
                        </a:spcBef>
                        <a:spcAft>
                          <a:spcPts val="0"/>
                        </a:spcAft>
                        <a:buNone/>
                      </a:pPr>
                      <a:r>
                        <a:rPr b="1" lang="en-US" sz="2000">
                          <a:latin typeface="Cambria"/>
                          <a:ea typeface="Cambria"/>
                          <a:cs typeface="Cambria"/>
                          <a:sym typeface="Cambria"/>
                        </a:rPr>
                        <a:t>OpenAI</a:t>
                      </a:r>
                      <a:endParaRPr b="1"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US" sz="2000">
                          <a:latin typeface="Cambria"/>
                          <a:ea typeface="Cambria"/>
                          <a:cs typeface="Cambria"/>
                          <a:sym typeface="Cambria"/>
                        </a:rPr>
                        <a:t>Generate embeddings for service descriptions</a:t>
                      </a:r>
                      <a:endParaRPr sz="2000">
                        <a:latin typeface="Cambria"/>
                        <a:ea typeface="Cambria"/>
                        <a:cs typeface="Cambria"/>
                        <a:sym typeface="Cambria"/>
                      </a:endParaRPr>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pSp>
        <p:nvGrpSpPr>
          <p:cNvPr id="184" name="Google Shape;184;p23"/>
          <p:cNvGrpSpPr/>
          <p:nvPr/>
        </p:nvGrpSpPr>
        <p:grpSpPr>
          <a:xfrm>
            <a:off x="0" y="70905"/>
            <a:ext cx="14630400" cy="756134"/>
            <a:chOff x="0" y="59087"/>
            <a:chExt cx="12192000" cy="630112"/>
          </a:xfrm>
        </p:grpSpPr>
        <p:pic>
          <p:nvPicPr>
            <p:cNvPr id="185" name="Google Shape;185;p23"/>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186" name="Google Shape;186;p23"/>
            <p:cNvCxnSpPr/>
            <p:nvPr/>
          </p:nvCxnSpPr>
          <p:spPr>
            <a:xfrm>
              <a:off x="1588" y="689199"/>
              <a:ext cx="12188700" cy="0"/>
            </a:xfrm>
            <a:prstGeom prst="straightConnector1">
              <a:avLst/>
            </a:prstGeom>
            <a:noFill/>
            <a:ln cap="flat" cmpd="sng" w="57150">
              <a:solidFill>
                <a:srgbClr val="00B050"/>
              </a:solidFill>
              <a:prstDash val="solid"/>
              <a:miter lim="800000"/>
              <a:headEnd len="sm" w="sm" type="none"/>
              <a:tailEnd len="sm" w="sm" type="none"/>
            </a:ln>
          </p:spPr>
        </p:cxnSp>
        <p:sp>
          <p:nvSpPr>
            <p:cNvPr id="187" name="Google Shape;187;p23"/>
            <p:cNvSpPr txBox="1"/>
            <p:nvPr/>
          </p:nvSpPr>
          <p:spPr>
            <a:xfrm>
              <a:off x="0" y="90472"/>
              <a:ext cx="12192000" cy="538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lang="en-US" sz="3600">
                  <a:solidFill>
                    <a:srgbClr val="002060"/>
                  </a:solidFill>
                  <a:latin typeface="ADLaM Display"/>
                  <a:ea typeface="ADLaM Display"/>
                  <a:cs typeface="ADLaM Display"/>
                  <a:sym typeface="ADLaM Display"/>
                </a:rPr>
                <a:t>Technology Stack</a:t>
              </a:r>
              <a:endParaRPr b="0" i="0" sz="1400" u="none" cap="none" strike="noStrike">
                <a:solidFill>
                  <a:srgbClr val="000000"/>
                </a:solidFill>
                <a:latin typeface="Arial"/>
                <a:ea typeface="Arial"/>
                <a:cs typeface="Arial"/>
                <a:sym typeface="Arial"/>
              </a:endParaRPr>
            </a:p>
          </p:txBody>
        </p:sp>
        <p:pic>
          <p:nvPicPr>
            <p:cNvPr id="188" name="Google Shape;188;p23"/>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grpSp>
        <p:nvGrpSpPr>
          <p:cNvPr id="193" name="Google Shape;193;p24"/>
          <p:cNvGrpSpPr/>
          <p:nvPr/>
        </p:nvGrpSpPr>
        <p:grpSpPr>
          <a:xfrm>
            <a:off x="0" y="70905"/>
            <a:ext cx="14630400" cy="756134"/>
            <a:chOff x="0" y="59087"/>
            <a:chExt cx="12192000" cy="630112"/>
          </a:xfrm>
        </p:grpSpPr>
        <p:pic>
          <p:nvPicPr>
            <p:cNvPr id="194" name="Google Shape;194;p24"/>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195" name="Google Shape;195;p24"/>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196" name="Google Shape;196;p24"/>
            <p:cNvSpPr txBox="1"/>
            <p:nvPr/>
          </p:nvSpPr>
          <p:spPr>
            <a:xfrm>
              <a:off x="0" y="90472"/>
              <a:ext cx="12192000" cy="53860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Proposed Recommendation Model</a:t>
              </a:r>
              <a:endParaRPr b="0" i="0" sz="1400" u="none" cap="none" strike="noStrike">
                <a:solidFill>
                  <a:srgbClr val="000000"/>
                </a:solidFill>
                <a:latin typeface="Arial"/>
                <a:ea typeface="Arial"/>
                <a:cs typeface="Arial"/>
                <a:sym typeface="Arial"/>
              </a:endParaRPr>
            </a:p>
          </p:txBody>
        </p:sp>
        <p:pic>
          <p:nvPicPr>
            <p:cNvPr id="197" name="Google Shape;197;p24"/>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
        <p:nvSpPr>
          <p:cNvPr id="198" name="Google Shape;198;p24"/>
          <p:cNvSpPr/>
          <p:nvPr/>
        </p:nvSpPr>
        <p:spPr>
          <a:xfrm>
            <a:off x="793790" y="1784271"/>
            <a:ext cx="2901039" cy="318849"/>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282824"/>
              </a:buClr>
              <a:buSzPts val="1800"/>
              <a:buFont typeface="Lato"/>
              <a:buNone/>
            </a:pPr>
            <a:r>
              <a:rPr b="1" i="0" lang="en-US" sz="1800" u="none" cap="none" strike="noStrike">
                <a:solidFill>
                  <a:srgbClr val="282824"/>
                </a:solidFill>
                <a:latin typeface="Lato"/>
                <a:ea typeface="Lato"/>
                <a:cs typeface="Lato"/>
                <a:sym typeface="Lato"/>
              </a:rPr>
              <a:t>IComponents:</a:t>
            </a:r>
            <a:endParaRPr b="0" i="0" sz="1800" u="none" cap="none" strike="noStrike">
              <a:solidFill>
                <a:schemeClr val="dk1"/>
              </a:solidFill>
              <a:latin typeface="Calibri"/>
              <a:ea typeface="Calibri"/>
              <a:cs typeface="Calibri"/>
              <a:sym typeface="Calibri"/>
            </a:endParaRPr>
          </a:p>
        </p:txBody>
      </p:sp>
      <p:sp>
        <p:nvSpPr>
          <p:cNvPr id="199" name="Google Shape;199;p24"/>
          <p:cNvSpPr/>
          <p:nvPr/>
        </p:nvSpPr>
        <p:spPr>
          <a:xfrm>
            <a:off x="793800" y="2822050"/>
            <a:ext cx="4476900" cy="1602600"/>
          </a:xfrm>
          <a:prstGeom prst="rect">
            <a:avLst/>
          </a:prstGeom>
          <a:noFill/>
          <a:ln>
            <a:noFill/>
          </a:ln>
        </p:spPr>
        <p:txBody>
          <a:bodyPr anchorCtr="0" anchor="t" bIns="0" lIns="0" spcFirstLastPara="1" rIns="0" wrap="square" tIns="0">
            <a:noAutofit/>
          </a:bodyPr>
          <a:lstStyle/>
          <a:p>
            <a:pPr indent="-342900" lvl="0" marL="342900" marR="0" rtl="0" algn="l">
              <a:lnSpc>
                <a:spcPct val="141666"/>
              </a:lnSpc>
              <a:spcBef>
                <a:spcPts val="0"/>
              </a:spcBef>
              <a:spcAft>
                <a:spcPts val="0"/>
              </a:spcAft>
              <a:buClr>
                <a:srgbClr val="4A4A45"/>
              </a:buClr>
              <a:buSzPts val="1800"/>
              <a:buFont typeface="Lato"/>
              <a:buChar char="•"/>
            </a:pPr>
            <a:r>
              <a:rPr b="1" i="0" lang="en-US" sz="1800" u="none" cap="none" strike="noStrike">
                <a:solidFill>
                  <a:srgbClr val="4A4A45"/>
                </a:solidFill>
                <a:latin typeface="Lato"/>
                <a:ea typeface="Lato"/>
                <a:cs typeface="Lato"/>
                <a:sym typeface="Lato"/>
              </a:rPr>
              <a:t>Backend:</a:t>
            </a:r>
            <a:r>
              <a:rPr b="0" i="0" lang="en-US" sz="1800" u="none" cap="none" strike="noStrike">
                <a:solidFill>
                  <a:srgbClr val="4A4A45"/>
                </a:solidFill>
                <a:latin typeface="Lato"/>
                <a:ea typeface="Lato"/>
                <a:cs typeface="Lato"/>
                <a:sym typeface="Lato"/>
              </a:rPr>
              <a:t> Powered by FastAPI for robust API handling, PostgreSQL for data storage, and Pandas for data manipulation.</a:t>
            </a:r>
            <a:endParaRPr b="0" i="0" sz="1800" u="none" cap="none" strike="noStrike">
              <a:solidFill>
                <a:schemeClr val="dk1"/>
              </a:solidFill>
              <a:latin typeface="Calibri"/>
              <a:ea typeface="Calibri"/>
              <a:cs typeface="Calibri"/>
              <a:sym typeface="Calibri"/>
            </a:endParaRPr>
          </a:p>
        </p:txBody>
      </p:sp>
      <p:sp>
        <p:nvSpPr>
          <p:cNvPr id="200" name="Google Shape;200;p24"/>
          <p:cNvSpPr/>
          <p:nvPr/>
        </p:nvSpPr>
        <p:spPr>
          <a:xfrm>
            <a:off x="793800" y="4424780"/>
            <a:ext cx="3870600" cy="2522700"/>
          </a:xfrm>
          <a:prstGeom prst="rect">
            <a:avLst/>
          </a:prstGeom>
          <a:noFill/>
          <a:ln>
            <a:noFill/>
          </a:ln>
        </p:spPr>
        <p:txBody>
          <a:bodyPr anchorCtr="0" anchor="t" bIns="0" lIns="0" spcFirstLastPara="1" rIns="0" wrap="square" tIns="0">
            <a:noAutofit/>
          </a:bodyPr>
          <a:lstStyle/>
          <a:p>
            <a:pPr indent="-342900" lvl="0" marL="342900" marR="0" rtl="0" algn="l">
              <a:lnSpc>
                <a:spcPct val="141666"/>
              </a:lnSpc>
              <a:spcBef>
                <a:spcPts val="0"/>
              </a:spcBef>
              <a:spcAft>
                <a:spcPts val="0"/>
              </a:spcAft>
              <a:buClr>
                <a:srgbClr val="4A4A45"/>
              </a:buClr>
              <a:buSzPts val="1800"/>
              <a:buFont typeface="Lato"/>
              <a:buChar char="•"/>
            </a:pPr>
            <a:r>
              <a:rPr b="1" i="0" lang="en-US" sz="1800" u="none" cap="none" strike="noStrike">
                <a:solidFill>
                  <a:srgbClr val="4A4A45"/>
                </a:solidFill>
                <a:latin typeface="Lato"/>
                <a:ea typeface="Lato"/>
                <a:cs typeface="Lato"/>
                <a:sym typeface="Lato"/>
              </a:rPr>
              <a:t>Frontend:</a:t>
            </a:r>
            <a:r>
              <a:rPr b="0" i="0" lang="en-US" sz="1800" u="none" cap="none" strike="noStrike">
                <a:solidFill>
                  <a:srgbClr val="4A4A45"/>
                </a:solidFill>
                <a:latin typeface="Lato"/>
                <a:ea typeface="Lato"/>
                <a:cs typeface="Lato"/>
                <a:sym typeface="Lato"/>
              </a:rPr>
              <a:t> User-friendly interface developed with Streamlit for seamless interaction.</a:t>
            </a:r>
            <a:endParaRPr b="0" i="0" sz="1800" u="none" cap="none" strike="noStrike">
              <a:solidFill>
                <a:schemeClr val="dk1"/>
              </a:solidFill>
              <a:latin typeface="Calibri"/>
              <a:ea typeface="Calibri"/>
              <a:cs typeface="Calibri"/>
              <a:sym typeface="Calibri"/>
            </a:endParaRPr>
          </a:p>
        </p:txBody>
      </p:sp>
      <p:pic>
        <p:nvPicPr>
          <p:cNvPr id="201" name="Google Shape;201;p24"/>
          <p:cNvPicPr preferRelativeResize="0"/>
          <p:nvPr/>
        </p:nvPicPr>
        <p:blipFill rotWithShape="1">
          <a:blip r:embed="rId5">
            <a:alphaModFix/>
          </a:blip>
          <a:srcRect b="0" l="0" r="0" t="0"/>
          <a:stretch/>
        </p:blipFill>
        <p:spPr>
          <a:xfrm>
            <a:off x="13406028" y="6947451"/>
            <a:ext cx="993913" cy="993913"/>
          </a:xfrm>
          <a:prstGeom prst="rect">
            <a:avLst/>
          </a:prstGeom>
          <a:noFill/>
          <a:ln>
            <a:noFill/>
          </a:ln>
        </p:spPr>
      </p:pic>
      <p:pic>
        <p:nvPicPr>
          <p:cNvPr id="202" name="Google Shape;202;p24"/>
          <p:cNvPicPr preferRelativeResize="0"/>
          <p:nvPr/>
        </p:nvPicPr>
        <p:blipFill rotWithShape="1">
          <a:blip r:embed="rId6">
            <a:alphaModFix/>
          </a:blip>
          <a:srcRect b="11041" l="0" r="0" t="0"/>
          <a:stretch/>
        </p:blipFill>
        <p:spPr>
          <a:xfrm>
            <a:off x="5344318" y="1613046"/>
            <a:ext cx="8204989" cy="50514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pSp>
        <p:nvGrpSpPr>
          <p:cNvPr id="207" name="Google Shape;207;p25"/>
          <p:cNvGrpSpPr/>
          <p:nvPr/>
        </p:nvGrpSpPr>
        <p:grpSpPr>
          <a:xfrm>
            <a:off x="10829176" y="3063943"/>
            <a:ext cx="1787550" cy="3751105"/>
            <a:chOff x="323529" y="1332374"/>
            <a:chExt cx="2592287" cy="3813144"/>
          </a:xfrm>
        </p:grpSpPr>
        <p:grpSp>
          <p:nvGrpSpPr>
            <p:cNvPr id="208" name="Google Shape;208;p25"/>
            <p:cNvGrpSpPr/>
            <p:nvPr/>
          </p:nvGrpSpPr>
          <p:grpSpPr>
            <a:xfrm>
              <a:off x="323529" y="4227934"/>
              <a:ext cx="2592287" cy="917584"/>
              <a:chOff x="323529" y="4227934"/>
              <a:chExt cx="2592287" cy="917584"/>
            </a:xfrm>
          </p:grpSpPr>
          <p:sp>
            <p:nvSpPr>
              <p:cNvPr id="209" name="Google Shape;209;p25"/>
              <p:cNvSpPr/>
              <p:nvPr/>
            </p:nvSpPr>
            <p:spPr>
              <a:xfrm rot="358729">
                <a:off x="348360" y="4422214"/>
                <a:ext cx="2379133" cy="601033"/>
              </a:xfrm>
              <a:custGeom>
                <a:rect b="b" l="l" r="r" t="t"/>
                <a:pathLst>
                  <a:path extrusionOk="0" h="601033" w="1908260">
                    <a:moveTo>
                      <a:pt x="675642" y="66773"/>
                    </a:moveTo>
                    <a:lnTo>
                      <a:pt x="1908260" y="0"/>
                    </a:lnTo>
                    <a:lnTo>
                      <a:pt x="1300823" y="527117"/>
                    </a:lnTo>
                    <a:lnTo>
                      <a:pt x="0" y="601033"/>
                    </a:lnTo>
                    <a:lnTo>
                      <a:pt x="675642" y="66773"/>
                    </a:lnTo>
                    <a:close/>
                  </a:path>
                </a:pathLst>
              </a:cu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sp>
            <p:nvSpPr>
              <p:cNvPr id="210" name="Google Shape;210;p25"/>
              <p:cNvSpPr/>
              <p:nvPr/>
            </p:nvSpPr>
            <p:spPr>
              <a:xfrm rot="358729">
                <a:off x="809437" y="4335070"/>
                <a:ext cx="2084621" cy="526631"/>
              </a:xfrm>
              <a:custGeom>
                <a:rect b="b" l="l" r="r" t="t"/>
                <a:pathLst>
                  <a:path extrusionOk="0" h="601033" w="1908260">
                    <a:moveTo>
                      <a:pt x="675642" y="66773"/>
                    </a:moveTo>
                    <a:lnTo>
                      <a:pt x="1908260" y="0"/>
                    </a:lnTo>
                    <a:lnTo>
                      <a:pt x="1300823" y="527117"/>
                    </a:lnTo>
                    <a:lnTo>
                      <a:pt x="0" y="601033"/>
                    </a:lnTo>
                    <a:lnTo>
                      <a:pt x="675642" y="66773"/>
                    </a:lnTo>
                    <a:close/>
                  </a:path>
                </a:pathLst>
              </a:custGeom>
              <a:solidFill>
                <a:srgbClr val="5959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grpSp>
        <p:grpSp>
          <p:nvGrpSpPr>
            <p:cNvPr id="211" name="Google Shape;211;p25"/>
            <p:cNvGrpSpPr/>
            <p:nvPr/>
          </p:nvGrpSpPr>
          <p:grpSpPr>
            <a:xfrm>
              <a:off x="933500" y="1332374"/>
              <a:ext cx="1262236" cy="3479244"/>
              <a:chOff x="1619672" y="1332374"/>
              <a:chExt cx="1262236" cy="3479243"/>
            </a:xfrm>
          </p:grpSpPr>
          <p:sp>
            <p:nvSpPr>
              <p:cNvPr id="212" name="Google Shape;212;p25"/>
              <p:cNvSpPr/>
              <p:nvPr/>
            </p:nvSpPr>
            <p:spPr>
              <a:xfrm>
                <a:off x="1691680" y="3947521"/>
                <a:ext cx="864096" cy="86409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4</a:t>
                </a:r>
                <a:endParaRPr b="1" i="0" sz="1400" u="none" cap="none" strike="noStrike">
                  <a:solidFill>
                    <a:schemeClr val="lt1"/>
                  </a:solidFill>
                  <a:latin typeface="Calibri"/>
                  <a:ea typeface="Calibri"/>
                  <a:cs typeface="Calibri"/>
                  <a:sym typeface="Calibri"/>
                </a:endParaRPr>
              </a:p>
            </p:txBody>
          </p:sp>
          <p:sp>
            <p:nvSpPr>
              <p:cNvPr id="213" name="Google Shape;213;p25"/>
              <p:cNvSpPr/>
              <p:nvPr/>
            </p:nvSpPr>
            <p:spPr>
              <a:xfrm>
                <a:off x="2017812" y="3077696"/>
                <a:ext cx="864096" cy="86409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3</a:t>
                </a:r>
                <a:endParaRPr b="1" i="0" sz="1400" u="none" cap="none" strike="noStrike">
                  <a:solidFill>
                    <a:schemeClr val="lt1"/>
                  </a:solidFill>
                  <a:latin typeface="Calibri"/>
                  <a:ea typeface="Calibri"/>
                  <a:cs typeface="Calibri"/>
                  <a:sym typeface="Calibri"/>
                </a:endParaRPr>
              </a:p>
            </p:txBody>
          </p:sp>
          <p:sp>
            <p:nvSpPr>
              <p:cNvPr id="214" name="Google Shape;214;p25"/>
              <p:cNvSpPr/>
              <p:nvPr/>
            </p:nvSpPr>
            <p:spPr>
              <a:xfrm>
                <a:off x="1979712" y="1332374"/>
                <a:ext cx="864096" cy="864096"/>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1</a:t>
                </a:r>
                <a:endParaRPr b="1" i="0" sz="1400" u="none" cap="none" strike="noStrike">
                  <a:solidFill>
                    <a:schemeClr val="lt1"/>
                  </a:solidFill>
                  <a:latin typeface="Calibri"/>
                  <a:ea typeface="Calibri"/>
                  <a:cs typeface="Calibri"/>
                  <a:sym typeface="Calibri"/>
                </a:endParaRPr>
              </a:p>
            </p:txBody>
          </p:sp>
          <p:sp>
            <p:nvSpPr>
              <p:cNvPr id="215" name="Google Shape;215;p25"/>
              <p:cNvSpPr/>
              <p:nvPr/>
            </p:nvSpPr>
            <p:spPr>
              <a:xfrm>
                <a:off x="1619672" y="2211710"/>
                <a:ext cx="864096" cy="864096"/>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2</a:t>
                </a:r>
                <a:endParaRPr b="1" i="0" sz="1400" u="none" cap="none" strike="noStrike">
                  <a:solidFill>
                    <a:schemeClr val="lt1"/>
                  </a:solidFill>
                  <a:latin typeface="Calibri"/>
                  <a:ea typeface="Calibri"/>
                  <a:cs typeface="Calibri"/>
                  <a:sym typeface="Calibri"/>
                </a:endParaRPr>
              </a:p>
            </p:txBody>
          </p:sp>
        </p:grpSp>
      </p:grpSp>
      <p:sp>
        <p:nvSpPr>
          <p:cNvPr id="216" name="Google Shape;216;p25"/>
          <p:cNvSpPr txBox="1"/>
          <p:nvPr/>
        </p:nvSpPr>
        <p:spPr>
          <a:xfrm>
            <a:off x="12956884" y="3136138"/>
            <a:ext cx="1318176"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F3F3F"/>
                </a:solidFill>
                <a:latin typeface="Calibri"/>
                <a:ea typeface="Calibri"/>
                <a:cs typeface="Calibri"/>
                <a:sym typeface="Calibri"/>
              </a:rPr>
              <a:t>Data Ingestion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F3F3F"/>
                </a:solidFill>
                <a:latin typeface="Calibri"/>
                <a:ea typeface="Calibri"/>
                <a:cs typeface="Calibri"/>
                <a:sym typeface="Calibri"/>
              </a:rPr>
              <a:t>Raw data is fed into the system.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F3F3F"/>
              </a:solidFill>
              <a:latin typeface="Calibri"/>
              <a:ea typeface="Calibri"/>
              <a:cs typeface="Calibri"/>
              <a:sym typeface="Calibri"/>
            </a:endParaRPr>
          </a:p>
        </p:txBody>
      </p:sp>
      <p:sp>
        <p:nvSpPr>
          <p:cNvPr id="217" name="Google Shape;217;p25"/>
          <p:cNvSpPr txBox="1"/>
          <p:nvPr/>
        </p:nvSpPr>
        <p:spPr>
          <a:xfrm>
            <a:off x="13004492" y="4616408"/>
            <a:ext cx="1224643"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F3F3F"/>
                </a:solidFill>
                <a:latin typeface="Calibri"/>
                <a:ea typeface="Calibri"/>
                <a:cs typeface="Calibri"/>
                <a:sym typeface="Calibri"/>
              </a:rPr>
              <a:t>Recommendation Engine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F3F3F"/>
                </a:solidFill>
                <a:latin typeface="Calibri"/>
                <a:ea typeface="Calibri"/>
                <a:cs typeface="Calibri"/>
                <a:sym typeface="Calibri"/>
              </a:rPr>
              <a:t>Rule-based and ML models generate suggestions.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3F3F3F"/>
              </a:solidFill>
              <a:latin typeface="Calibri"/>
              <a:ea typeface="Calibri"/>
              <a:cs typeface="Calibri"/>
              <a:sym typeface="Calibri"/>
            </a:endParaRPr>
          </a:p>
        </p:txBody>
      </p:sp>
      <p:sp>
        <p:nvSpPr>
          <p:cNvPr id="218" name="Google Shape;218;p25"/>
          <p:cNvSpPr txBox="1"/>
          <p:nvPr/>
        </p:nvSpPr>
        <p:spPr>
          <a:xfrm>
            <a:off x="9089094" y="3892951"/>
            <a:ext cx="1318523" cy="116955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3F3F3F"/>
                </a:solidFill>
                <a:latin typeface="Calibri"/>
                <a:ea typeface="Calibri"/>
                <a:cs typeface="Calibri"/>
                <a:sym typeface="Calibri"/>
              </a:rPr>
              <a:t>Preprocessing</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3F3F3F"/>
                </a:solidFill>
                <a:latin typeface="Calibri"/>
                <a:ea typeface="Calibri"/>
                <a:cs typeface="Calibri"/>
                <a:sym typeface="Calibri"/>
              </a:rPr>
              <a:t>Data is cleaned and transformed.</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t/>
            </a:r>
            <a:endParaRPr b="1" i="0" sz="1400" u="none" cap="none" strike="noStrike">
              <a:solidFill>
                <a:srgbClr val="3F3F3F"/>
              </a:solidFill>
              <a:latin typeface="Calibri"/>
              <a:ea typeface="Calibri"/>
              <a:cs typeface="Calibri"/>
              <a:sym typeface="Calibri"/>
            </a:endParaRPr>
          </a:p>
        </p:txBody>
      </p:sp>
      <p:sp>
        <p:nvSpPr>
          <p:cNvPr id="219" name="Google Shape;219;p25"/>
          <p:cNvSpPr txBox="1"/>
          <p:nvPr/>
        </p:nvSpPr>
        <p:spPr>
          <a:xfrm>
            <a:off x="8864712" y="5584507"/>
            <a:ext cx="1513166" cy="9541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3F3F3F"/>
                </a:solidFill>
                <a:latin typeface="Calibri"/>
                <a:ea typeface="Calibri"/>
                <a:cs typeface="Calibri"/>
                <a:sym typeface="Calibri"/>
              </a:rPr>
              <a:t>API Response</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3F3F3F"/>
                </a:solidFill>
                <a:latin typeface="Calibri"/>
                <a:ea typeface="Calibri"/>
                <a:cs typeface="Calibri"/>
                <a:sym typeface="Calibri"/>
              </a:rPr>
              <a:t>Recommendations are delivered via API.</a:t>
            </a:r>
            <a:endParaRPr b="0" i="0" sz="1400" u="none" cap="none" strike="noStrike">
              <a:solidFill>
                <a:srgbClr val="000000"/>
              </a:solidFill>
              <a:latin typeface="Arial"/>
              <a:ea typeface="Arial"/>
              <a:cs typeface="Arial"/>
              <a:sym typeface="Arial"/>
            </a:endParaRPr>
          </a:p>
        </p:txBody>
      </p:sp>
      <p:sp>
        <p:nvSpPr>
          <p:cNvPr id="220" name="Google Shape;220;p25"/>
          <p:cNvSpPr/>
          <p:nvPr/>
        </p:nvSpPr>
        <p:spPr>
          <a:xfrm>
            <a:off x="12760554" y="3063943"/>
            <a:ext cx="80012" cy="93068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sp>
        <p:nvSpPr>
          <p:cNvPr id="221" name="Google Shape;221;p25"/>
          <p:cNvSpPr/>
          <p:nvPr/>
        </p:nvSpPr>
        <p:spPr>
          <a:xfrm>
            <a:off x="12791564" y="4861520"/>
            <a:ext cx="80012" cy="9306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sp>
        <p:nvSpPr>
          <p:cNvPr id="222" name="Google Shape;222;p25"/>
          <p:cNvSpPr/>
          <p:nvPr/>
        </p:nvSpPr>
        <p:spPr>
          <a:xfrm>
            <a:off x="10574152" y="3927161"/>
            <a:ext cx="80012" cy="93068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sp>
        <p:nvSpPr>
          <p:cNvPr id="223" name="Google Shape;223;p25"/>
          <p:cNvSpPr/>
          <p:nvPr/>
        </p:nvSpPr>
        <p:spPr>
          <a:xfrm>
            <a:off x="10581948" y="5702936"/>
            <a:ext cx="72216" cy="71738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sp>
        <p:nvSpPr>
          <p:cNvPr id="224" name="Google Shape;224;p25"/>
          <p:cNvSpPr/>
          <p:nvPr/>
        </p:nvSpPr>
        <p:spPr>
          <a:xfrm flipH="1" rot="10800000">
            <a:off x="12361681" y="3355590"/>
            <a:ext cx="191484" cy="347394"/>
          </a:xfrm>
          <a:prstGeom prst="chevron">
            <a:avLst>
              <a:gd fmla="val 50000" name="adj"/>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sp>
        <p:nvSpPr>
          <p:cNvPr id="225" name="Google Shape;225;p25"/>
          <p:cNvSpPr/>
          <p:nvPr/>
        </p:nvSpPr>
        <p:spPr>
          <a:xfrm>
            <a:off x="12404140" y="5005241"/>
            <a:ext cx="191484" cy="337292"/>
          </a:xfrm>
          <a:prstGeom prst="chevron">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sp>
        <p:nvSpPr>
          <p:cNvPr id="226" name="Google Shape;226;p25"/>
          <p:cNvSpPr/>
          <p:nvPr/>
        </p:nvSpPr>
        <p:spPr>
          <a:xfrm rot="10800000">
            <a:off x="10837303" y="4151545"/>
            <a:ext cx="191484" cy="337292"/>
          </a:xfrm>
          <a:prstGeom prst="chevron">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sp>
        <p:nvSpPr>
          <p:cNvPr id="227" name="Google Shape;227;p25"/>
          <p:cNvSpPr/>
          <p:nvPr/>
        </p:nvSpPr>
        <p:spPr>
          <a:xfrm rot="10800000">
            <a:off x="10849502" y="5852017"/>
            <a:ext cx="251568" cy="327119"/>
          </a:xfrm>
          <a:prstGeom prst="chevron">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3F3F3F"/>
              </a:solidFill>
              <a:latin typeface="Calibri"/>
              <a:ea typeface="Calibri"/>
              <a:cs typeface="Calibri"/>
              <a:sym typeface="Calibri"/>
            </a:endParaRPr>
          </a:p>
        </p:txBody>
      </p:sp>
      <p:pic>
        <p:nvPicPr>
          <p:cNvPr id="228" name="Google Shape;228;p25"/>
          <p:cNvPicPr preferRelativeResize="0"/>
          <p:nvPr/>
        </p:nvPicPr>
        <p:blipFill rotWithShape="1">
          <a:blip r:embed="rId3">
            <a:alphaModFix/>
          </a:blip>
          <a:srcRect b="0" l="0" r="1599" t="0"/>
          <a:stretch/>
        </p:blipFill>
        <p:spPr>
          <a:xfrm>
            <a:off x="636022" y="1428117"/>
            <a:ext cx="8207008" cy="6215844"/>
          </a:xfrm>
          <a:prstGeom prst="rect">
            <a:avLst/>
          </a:prstGeom>
          <a:noFill/>
          <a:ln>
            <a:noFill/>
          </a:ln>
        </p:spPr>
      </p:pic>
      <p:pic>
        <p:nvPicPr>
          <p:cNvPr id="229" name="Google Shape;229;p25"/>
          <p:cNvPicPr preferRelativeResize="0"/>
          <p:nvPr/>
        </p:nvPicPr>
        <p:blipFill rotWithShape="1">
          <a:blip r:embed="rId4">
            <a:alphaModFix/>
          </a:blip>
          <a:srcRect b="0" l="0" r="0" t="0"/>
          <a:stretch/>
        </p:blipFill>
        <p:spPr>
          <a:xfrm>
            <a:off x="13406028" y="6947451"/>
            <a:ext cx="993913" cy="993913"/>
          </a:xfrm>
          <a:prstGeom prst="rect">
            <a:avLst/>
          </a:prstGeom>
          <a:noFill/>
          <a:ln>
            <a:noFill/>
          </a:ln>
        </p:spPr>
      </p:pic>
      <p:grpSp>
        <p:nvGrpSpPr>
          <p:cNvPr id="230" name="Google Shape;230;p25"/>
          <p:cNvGrpSpPr/>
          <p:nvPr/>
        </p:nvGrpSpPr>
        <p:grpSpPr>
          <a:xfrm>
            <a:off x="0" y="70905"/>
            <a:ext cx="14630400" cy="756134"/>
            <a:chOff x="0" y="59087"/>
            <a:chExt cx="12192000" cy="630112"/>
          </a:xfrm>
        </p:grpSpPr>
        <p:pic>
          <p:nvPicPr>
            <p:cNvPr id="231" name="Google Shape;231;p25"/>
            <p:cNvPicPr preferRelativeResize="0"/>
            <p:nvPr/>
          </p:nvPicPr>
          <p:blipFill rotWithShape="1">
            <a:blip r:embed="rId5">
              <a:alphaModFix/>
            </a:blip>
            <a:srcRect b="0" l="0" r="0" t="0"/>
            <a:stretch/>
          </p:blipFill>
          <p:spPr>
            <a:xfrm>
              <a:off x="11291089" y="112448"/>
              <a:ext cx="829660" cy="495441"/>
            </a:xfrm>
            <a:prstGeom prst="rect">
              <a:avLst/>
            </a:prstGeom>
            <a:noFill/>
            <a:ln>
              <a:noFill/>
            </a:ln>
          </p:spPr>
        </p:pic>
        <p:cxnSp>
          <p:nvCxnSpPr>
            <p:cNvPr id="232" name="Google Shape;232;p25"/>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233" name="Google Shape;233;p25"/>
            <p:cNvSpPr txBox="1"/>
            <p:nvPr/>
          </p:nvSpPr>
          <p:spPr>
            <a:xfrm>
              <a:off x="0" y="90472"/>
              <a:ext cx="12192000" cy="53860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Proposed Recommendation Model</a:t>
              </a:r>
              <a:endParaRPr b="0" i="0" sz="1400" u="none" cap="none" strike="noStrike">
                <a:solidFill>
                  <a:srgbClr val="000000"/>
                </a:solidFill>
                <a:latin typeface="Arial"/>
                <a:ea typeface="Arial"/>
                <a:cs typeface="Arial"/>
                <a:sym typeface="Arial"/>
              </a:endParaRPr>
            </a:p>
          </p:txBody>
        </p:sp>
        <p:pic>
          <p:nvPicPr>
            <p:cNvPr id="234" name="Google Shape;234;p25"/>
            <p:cNvPicPr preferRelativeResize="0"/>
            <p:nvPr/>
          </p:nvPicPr>
          <p:blipFill rotWithShape="1">
            <a:blip r:embed="rId6">
              <a:alphaModFix/>
            </a:blip>
            <a:srcRect b="0" l="0" r="0" t="0"/>
            <a:stretch/>
          </p:blipFill>
          <p:spPr>
            <a:xfrm>
              <a:off x="111705" y="59087"/>
              <a:ext cx="403231" cy="526827"/>
            </a:xfrm>
            <a:prstGeom prst="rect">
              <a:avLst/>
            </a:prstGeom>
            <a:noFill/>
            <a:ln>
              <a:noFill/>
            </a:ln>
          </p:spPr>
        </p:pic>
      </p:gr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grpSp>
        <p:nvGrpSpPr>
          <p:cNvPr id="239" name="Google Shape;239;p26"/>
          <p:cNvGrpSpPr/>
          <p:nvPr/>
        </p:nvGrpSpPr>
        <p:grpSpPr>
          <a:xfrm>
            <a:off x="0" y="70905"/>
            <a:ext cx="14630400" cy="756134"/>
            <a:chOff x="0" y="59087"/>
            <a:chExt cx="12192000" cy="630112"/>
          </a:xfrm>
        </p:grpSpPr>
        <p:pic>
          <p:nvPicPr>
            <p:cNvPr id="240" name="Google Shape;240;p26"/>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241" name="Google Shape;241;p26"/>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242" name="Google Shape;242;p26"/>
            <p:cNvSpPr txBox="1"/>
            <p:nvPr/>
          </p:nvSpPr>
          <p:spPr>
            <a:xfrm>
              <a:off x="0" y="90472"/>
              <a:ext cx="12192000" cy="53860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Example Walkthrough</a:t>
              </a:r>
              <a:endParaRPr b="0" i="0" sz="1400" u="none" cap="none" strike="noStrike">
                <a:solidFill>
                  <a:srgbClr val="000000"/>
                </a:solidFill>
                <a:latin typeface="Arial"/>
                <a:ea typeface="Arial"/>
                <a:cs typeface="Arial"/>
                <a:sym typeface="Arial"/>
              </a:endParaRPr>
            </a:p>
          </p:txBody>
        </p:sp>
        <p:pic>
          <p:nvPicPr>
            <p:cNvPr id="243" name="Google Shape;243;p26"/>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
        <p:nvSpPr>
          <p:cNvPr id="244" name="Google Shape;244;p26"/>
          <p:cNvSpPr txBox="1"/>
          <p:nvPr/>
        </p:nvSpPr>
        <p:spPr>
          <a:xfrm>
            <a:off x="817625" y="1375050"/>
            <a:ext cx="13043700" cy="660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5" name="Google Shape;245;p26"/>
          <p:cNvPicPr preferRelativeResize="0"/>
          <p:nvPr/>
        </p:nvPicPr>
        <p:blipFill rotWithShape="1">
          <a:blip r:embed="rId5">
            <a:alphaModFix/>
          </a:blip>
          <a:srcRect b="0" l="0" r="0" t="0"/>
          <a:stretch/>
        </p:blipFill>
        <p:spPr>
          <a:xfrm>
            <a:off x="2323550" y="1484463"/>
            <a:ext cx="11187399" cy="6384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7" title="clideo_editor_ed8bba7f947b452ebf8159d3d6b2cf56.mp4">
            <a:hlinkClick r:id="rId3"/>
          </p:cNvPr>
          <p:cNvPicPr preferRelativeResize="0"/>
          <p:nvPr/>
        </p:nvPicPr>
        <p:blipFill>
          <a:blip r:embed="rId4">
            <a:alphaModFix/>
          </a:blip>
          <a:stretch>
            <a:fillRect/>
          </a:stretch>
        </p:blipFill>
        <p:spPr>
          <a:xfrm>
            <a:off x="1219200" y="685800"/>
            <a:ext cx="12192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grpSp>
        <p:nvGrpSpPr>
          <p:cNvPr id="255" name="Google Shape;255;p28"/>
          <p:cNvGrpSpPr/>
          <p:nvPr/>
        </p:nvGrpSpPr>
        <p:grpSpPr>
          <a:xfrm>
            <a:off x="134046" y="70905"/>
            <a:ext cx="14496484" cy="658562"/>
            <a:chOff x="111705" y="59087"/>
            <a:chExt cx="12080403" cy="548802"/>
          </a:xfrm>
        </p:grpSpPr>
        <p:pic>
          <p:nvPicPr>
            <p:cNvPr id="256" name="Google Shape;256;p28"/>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sp>
          <p:nvSpPr>
            <p:cNvPr id="257" name="Google Shape;257;p28"/>
            <p:cNvSpPr txBox="1"/>
            <p:nvPr/>
          </p:nvSpPr>
          <p:spPr>
            <a:xfrm>
              <a:off x="111708" y="90478"/>
              <a:ext cx="12080400" cy="474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rgbClr val="002060"/>
                  </a:solidFill>
                  <a:latin typeface="ADLaM Display"/>
                  <a:ea typeface="ADLaM Display"/>
                  <a:cs typeface="ADLaM Display"/>
                  <a:sym typeface="ADLaM Display"/>
                </a:rPr>
                <a:t>Sample Test Cases</a:t>
              </a:r>
              <a:endParaRPr b="0" i="0" sz="900" u="none" cap="none" strike="noStrike">
                <a:solidFill>
                  <a:srgbClr val="000000"/>
                </a:solidFill>
                <a:latin typeface="Arial"/>
                <a:ea typeface="Arial"/>
                <a:cs typeface="Arial"/>
                <a:sym typeface="Arial"/>
              </a:endParaRPr>
            </a:p>
          </p:txBody>
        </p:sp>
        <p:pic>
          <p:nvPicPr>
            <p:cNvPr id="258" name="Google Shape;258;p28"/>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pic>
        <p:nvPicPr>
          <p:cNvPr id="259" name="Google Shape;259;p28"/>
          <p:cNvPicPr preferRelativeResize="0"/>
          <p:nvPr/>
        </p:nvPicPr>
        <p:blipFill rotWithShape="1">
          <a:blip r:embed="rId5">
            <a:alphaModFix/>
          </a:blip>
          <a:srcRect b="0" l="0" r="0" t="0"/>
          <a:stretch/>
        </p:blipFill>
        <p:spPr>
          <a:xfrm>
            <a:off x="3340950" y="813789"/>
            <a:ext cx="7948499" cy="709776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29"/>
          <p:cNvPicPr preferRelativeResize="0"/>
          <p:nvPr/>
        </p:nvPicPr>
        <p:blipFill rotWithShape="1">
          <a:blip r:embed="rId3">
            <a:alphaModFix/>
          </a:blip>
          <a:srcRect b="0" l="0" r="0" t="0"/>
          <a:stretch/>
        </p:blipFill>
        <p:spPr>
          <a:xfrm>
            <a:off x="3205800" y="262300"/>
            <a:ext cx="8218800" cy="7339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30"/>
          <p:cNvPicPr preferRelativeResize="0"/>
          <p:nvPr/>
        </p:nvPicPr>
        <p:blipFill rotWithShape="1">
          <a:blip r:embed="rId3">
            <a:alphaModFix/>
          </a:blip>
          <a:srcRect b="0" l="0" r="0" t="0"/>
          <a:stretch/>
        </p:blipFill>
        <p:spPr>
          <a:xfrm>
            <a:off x="3274750" y="256350"/>
            <a:ext cx="8641853" cy="77168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1"/>
          <p:cNvPicPr preferRelativeResize="0"/>
          <p:nvPr/>
        </p:nvPicPr>
        <p:blipFill>
          <a:blip r:embed="rId3">
            <a:alphaModFix/>
          </a:blip>
          <a:stretch>
            <a:fillRect/>
          </a:stretch>
        </p:blipFill>
        <p:spPr>
          <a:xfrm>
            <a:off x="2836725" y="152400"/>
            <a:ext cx="8699611" cy="792480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grpSp>
        <p:nvGrpSpPr>
          <p:cNvPr id="279" name="Google Shape;279;p32"/>
          <p:cNvGrpSpPr/>
          <p:nvPr/>
        </p:nvGrpSpPr>
        <p:grpSpPr>
          <a:xfrm>
            <a:off x="0" y="70905"/>
            <a:ext cx="14630400" cy="756134"/>
            <a:chOff x="0" y="59087"/>
            <a:chExt cx="12192000" cy="630112"/>
          </a:xfrm>
        </p:grpSpPr>
        <p:pic>
          <p:nvPicPr>
            <p:cNvPr id="280" name="Google Shape;280;p32"/>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281" name="Google Shape;281;p32"/>
            <p:cNvCxnSpPr/>
            <p:nvPr/>
          </p:nvCxnSpPr>
          <p:spPr>
            <a:xfrm>
              <a:off x="1588" y="689199"/>
              <a:ext cx="12188700" cy="0"/>
            </a:xfrm>
            <a:prstGeom prst="straightConnector1">
              <a:avLst/>
            </a:prstGeom>
            <a:noFill/>
            <a:ln cap="flat" cmpd="sng" w="57150">
              <a:solidFill>
                <a:srgbClr val="00B050"/>
              </a:solidFill>
              <a:prstDash val="solid"/>
              <a:miter lim="800000"/>
              <a:headEnd len="sm" w="sm" type="none"/>
              <a:tailEnd len="sm" w="sm" type="none"/>
            </a:ln>
          </p:spPr>
        </p:cxnSp>
        <p:sp>
          <p:nvSpPr>
            <p:cNvPr id="282" name="Google Shape;282;p32"/>
            <p:cNvSpPr txBox="1"/>
            <p:nvPr/>
          </p:nvSpPr>
          <p:spPr>
            <a:xfrm>
              <a:off x="0" y="90472"/>
              <a:ext cx="12192000" cy="5385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Regular Database Updation</a:t>
              </a:r>
              <a:endParaRPr b="0" i="0" sz="1400" u="none" cap="none" strike="noStrike">
                <a:solidFill>
                  <a:srgbClr val="000000"/>
                </a:solidFill>
                <a:latin typeface="Arial"/>
                <a:ea typeface="Arial"/>
                <a:cs typeface="Arial"/>
                <a:sym typeface="Arial"/>
              </a:endParaRPr>
            </a:p>
          </p:txBody>
        </p:sp>
        <p:pic>
          <p:nvPicPr>
            <p:cNvPr id="283" name="Google Shape;283;p32"/>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
        <p:nvSpPr>
          <p:cNvPr id="284" name="Google Shape;284;p32"/>
          <p:cNvSpPr txBox="1"/>
          <p:nvPr/>
        </p:nvSpPr>
        <p:spPr>
          <a:xfrm>
            <a:off x="1905919" y="1553380"/>
            <a:ext cx="7744800" cy="4665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2200" u="none" cap="none" strike="noStrike">
                <a:solidFill>
                  <a:srgbClr val="2F5496"/>
                </a:solidFill>
                <a:latin typeface="Cambria"/>
                <a:ea typeface="Cambria"/>
                <a:cs typeface="Cambria"/>
                <a:sym typeface="Cambria"/>
              </a:rPr>
              <a:t>1. POST/generate-district-csvs</a:t>
            </a:r>
            <a:endParaRPr b="1" i="0" sz="2200" u="none" cap="none" strike="noStrike">
              <a:solidFill>
                <a:srgbClr val="2F5496"/>
              </a:solidFill>
              <a:latin typeface="Cambria"/>
              <a:ea typeface="Cambria"/>
              <a:cs typeface="Cambria"/>
              <a:sym typeface="Cambria"/>
            </a:endParaRPr>
          </a:p>
          <a:p>
            <a:pPr indent="-342900" lvl="0" marL="342900" marR="0" rtl="0" algn="l">
              <a:lnSpc>
                <a:spcPct val="115000"/>
              </a:lnSpc>
              <a:spcBef>
                <a:spcPts val="100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Regenerates district-level top service usage statistics.</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Calls the function `generate_district_csv_files()` in `district_helper.py`.</a:t>
            </a:r>
            <a:endParaRPr/>
          </a:p>
          <a:p>
            <a:pPr indent="0" lvl="0" marL="0" marR="0" rtl="0" algn="l">
              <a:lnSpc>
                <a:spcPct val="115000"/>
              </a:lnSpc>
              <a:spcBef>
                <a:spcPts val="1000"/>
              </a:spcBef>
              <a:spcAft>
                <a:spcPts val="0"/>
              </a:spcAft>
              <a:buNone/>
            </a:pPr>
            <a:r>
              <a:t/>
            </a:r>
            <a:endParaRPr b="0" i="0" sz="1800" u="none" cap="none" strike="noStrike">
              <a:solidFill>
                <a:srgbClr val="000000"/>
              </a:solidFill>
              <a:latin typeface="Cambria"/>
              <a:ea typeface="Cambria"/>
              <a:cs typeface="Cambria"/>
              <a:sym typeface="Cambria"/>
            </a:endParaRPr>
          </a:p>
          <a:p>
            <a:pPr indent="0" lvl="0" marL="0" marR="0" rtl="0" algn="l">
              <a:lnSpc>
                <a:spcPct val="115000"/>
              </a:lnSpc>
              <a:spcBef>
                <a:spcPts val="1000"/>
              </a:spcBef>
              <a:spcAft>
                <a:spcPts val="0"/>
              </a:spcAft>
              <a:buNone/>
            </a:pPr>
            <a:r>
              <a:rPr b="1" i="0" lang="en-US" sz="2200" u="none" cap="none" strike="noStrike">
                <a:solidFill>
                  <a:srgbClr val="2F5496"/>
                </a:solidFill>
                <a:latin typeface="Cambria"/>
                <a:ea typeface="Cambria"/>
                <a:cs typeface="Cambria"/>
                <a:sym typeface="Cambria"/>
              </a:rPr>
              <a:t>2. POST/generate-demo-csvs</a:t>
            </a:r>
            <a:endParaRPr b="1" i="0" sz="2200" u="none" cap="none" strike="noStrike">
              <a:solidFill>
                <a:srgbClr val="2F5496"/>
              </a:solidFill>
              <a:latin typeface="Cambria"/>
              <a:ea typeface="Cambria"/>
              <a:cs typeface="Cambria"/>
              <a:sym typeface="Cambria"/>
            </a:endParaRPr>
          </a:p>
          <a:p>
            <a:pPr indent="-342900" lvl="0" marL="342900" marR="0" rtl="0" algn="l">
              <a:lnSpc>
                <a:spcPct val="115000"/>
              </a:lnSpc>
              <a:spcBef>
                <a:spcPts val="100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Updates demographic clusters and service mappings.</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Calls the function `generate_demo_csv_files()` in `demo_helper.py`.</a:t>
            </a:r>
            <a:endParaRPr/>
          </a:p>
          <a:p>
            <a:pPr indent="0" lvl="0" marL="0" marR="0" rtl="0" algn="l">
              <a:lnSpc>
                <a:spcPct val="115000"/>
              </a:lnSpc>
              <a:spcBef>
                <a:spcPts val="1000"/>
              </a:spcBef>
              <a:spcAft>
                <a:spcPts val="0"/>
              </a:spcAft>
              <a:buNone/>
            </a:pPr>
            <a:r>
              <a:t/>
            </a:r>
            <a:endParaRPr b="0" i="0" sz="1800" u="none" cap="none" strike="noStrike">
              <a:solidFill>
                <a:srgbClr val="000000"/>
              </a:solidFill>
              <a:latin typeface="Cambria"/>
              <a:ea typeface="Cambria"/>
              <a:cs typeface="Cambria"/>
              <a:sym typeface="Cambria"/>
            </a:endParaRPr>
          </a:p>
          <a:p>
            <a:pPr indent="0" lvl="0" marL="0" marR="0" rtl="0" algn="l">
              <a:lnSpc>
                <a:spcPct val="115000"/>
              </a:lnSpc>
              <a:spcBef>
                <a:spcPts val="1000"/>
              </a:spcBef>
              <a:spcAft>
                <a:spcPts val="0"/>
              </a:spcAft>
              <a:buNone/>
            </a:pPr>
            <a:r>
              <a:rPr b="1" i="0" lang="en-US" sz="2200" u="none" cap="none" strike="noStrike">
                <a:solidFill>
                  <a:srgbClr val="2F5496"/>
                </a:solidFill>
                <a:latin typeface="Cambria"/>
                <a:ea typeface="Cambria"/>
                <a:cs typeface="Cambria"/>
                <a:sym typeface="Cambria"/>
              </a:rPr>
              <a:t>3. POST/generate-content-csvs</a:t>
            </a:r>
            <a:endParaRPr b="1" i="0" sz="2200" u="none" cap="none" strike="noStrike">
              <a:solidFill>
                <a:srgbClr val="2F5496"/>
              </a:solidFill>
              <a:latin typeface="Cambria"/>
              <a:ea typeface="Cambria"/>
              <a:cs typeface="Cambria"/>
              <a:sym typeface="Cambria"/>
            </a:endParaRPr>
          </a:p>
          <a:p>
            <a:pPr indent="-342900" lvl="0" marL="342900" marR="0" rtl="0" algn="l">
              <a:lnSpc>
                <a:spcPct val="115000"/>
              </a:lnSpc>
              <a:spcBef>
                <a:spcPts val="100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Enhances service descriptions and computes semantic similarity.</a:t>
            </a:r>
            <a:endParaRPr b="0" i="0" sz="1800" u="none" cap="none" strike="noStrike">
              <a:solidFill>
                <a:srgbClr val="000000"/>
              </a:solidFill>
              <a:latin typeface="Cambria"/>
              <a:ea typeface="Cambria"/>
              <a:cs typeface="Cambria"/>
              <a:sym typeface="Cambria"/>
            </a:endParaRPr>
          </a:p>
          <a:p>
            <a:pPr indent="-342900" lvl="0" marL="342900" marR="0" rtl="0" algn="l">
              <a:lnSpc>
                <a:spcPct val="115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Cambria"/>
                <a:ea typeface="Cambria"/>
                <a:cs typeface="Cambria"/>
                <a:sym typeface="Cambria"/>
              </a:rPr>
              <a:t>Calls the function `generate_content_csv_files()` in `content_helper.py`.</a:t>
            </a:r>
            <a:endParaRPr b="0" i="0" sz="1800" u="none" cap="none" strike="noStrike">
              <a:solidFill>
                <a:srgbClr val="000000"/>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grpSp>
        <p:nvGrpSpPr>
          <p:cNvPr id="289" name="Google Shape;289;p33"/>
          <p:cNvGrpSpPr/>
          <p:nvPr/>
        </p:nvGrpSpPr>
        <p:grpSpPr>
          <a:xfrm>
            <a:off x="0" y="70905"/>
            <a:ext cx="14630400" cy="1179582"/>
            <a:chOff x="0" y="59087"/>
            <a:chExt cx="12192000" cy="982985"/>
          </a:xfrm>
        </p:grpSpPr>
        <p:pic>
          <p:nvPicPr>
            <p:cNvPr id="290" name="Google Shape;290;p33"/>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291" name="Google Shape;291;p33"/>
            <p:cNvCxnSpPr/>
            <p:nvPr/>
          </p:nvCxnSpPr>
          <p:spPr>
            <a:xfrm>
              <a:off x="1588" y="689199"/>
              <a:ext cx="12188700" cy="0"/>
            </a:xfrm>
            <a:prstGeom prst="straightConnector1">
              <a:avLst/>
            </a:prstGeom>
            <a:noFill/>
            <a:ln cap="flat" cmpd="sng" w="57150">
              <a:solidFill>
                <a:srgbClr val="00B050"/>
              </a:solidFill>
              <a:prstDash val="solid"/>
              <a:miter lim="800000"/>
              <a:headEnd len="sm" w="sm" type="none"/>
              <a:tailEnd len="sm" w="sm" type="none"/>
            </a:ln>
          </p:spPr>
        </p:cxnSp>
        <p:sp>
          <p:nvSpPr>
            <p:cNvPr id="292" name="Google Shape;292;p33"/>
            <p:cNvSpPr txBox="1"/>
            <p:nvPr/>
          </p:nvSpPr>
          <p:spPr>
            <a:xfrm>
              <a:off x="0" y="90472"/>
              <a:ext cx="12192000" cy="9516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1100"/>
                <a:buFont typeface="Arial"/>
                <a:buNone/>
              </a:pPr>
              <a:r>
                <a:rPr b="1" i="0" lang="en-US" sz="2800" u="none" cap="none" strike="noStrike">
                  <a:solidFill>
                    <a:srgbClr val="002060"/>
                  </a:solidFill>
                  <a:latin typeface="ADLaM Display"/>
                  <a:ea typeface="ADLaM Display"/>
                  <a:cs typeface="ADLaM Display"/>
                  <a:sym typeface="ADLaM Display"/>
                </a:rPr>
                <a:t>Automation Enhancement – Cron Job Integration</a:t>
              </a:r>
              <a:endParaRPr b="1" i="0" sz="2800" u="none" cap="none" strike="noStrike">
                <a:solidFill>
                  <a:srgbClr val="002060"/>
                </a:solidFill>
                <a:latin typeface="ADLaM Display"/>
                <a:ea typeface="ADLaM Display"/>
                <a:cs typeface="ADLaM Display"/>
                <a:sym typeface="ADLaM Display"/>
              </a:endParaRPr>
            </a:p>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rgbClr val="002060"/>
                </a:solidFill>
                <a:latin typeface="ADLaM Display"/>
                <a:ea typeface="ADLaM Display"/>
                <a:cs typeface="ADLaM Display"/>
                <a:sym typeface="ADLaM Display"/>
              </a:endParaRPr>
            </a:p>
          </p:txBody>
        </p:sp>
        <p:pic>
          <p:nvPicPr>
            <p:cNvPr id="293" name="Google Shape;293;p33"/>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
        <p:nvSpPr>
          <p:cNvPr id="294" name="Google Shape;294;p33"/>
          <p:cNvSpPr txBox="1"/>
          <p:nvPr/>
        </p:nvSpPr>
        <p:spPr>
          <a:xfrm>
            <a:off x="368875" y="1006000"/>
            <a:ext cx="6801000" cy="38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2000">
                <a:solidFill>
                  <a:srgbClr val="4F81BD"/>
                </a:solidFill>
              </a:rPr>
              <a:t>Daily Demographic Refresh</a:t>
            </a:r>
            <a:endParaRPr b="1" sz="2000">
              <a:solidFill>
                <a:srgbClr val="4F81BD"/>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t>
            </a:r>
            <a:r>
              <a:rPr lang="en-US" sz="1600">
                <a:solidFill>
                  <a:schemeClr val="dk1"/>
                </a:solidFill>
              </a:rPr>
              <a:t> </a:t>
            </a:r>
            <a:r>
              <a:rPr b="1" lang="en-US" sz="1600">
                <a:solidFill>
                  <a:schemeClr val="dk1"/>
                </a:solidFill>
              </a:rPr>
              <a:t>Schedule:</a:t>
            </a:r>
            <a:r>
              <a:rPr lang="en-US" sz="1600">
                <a:solidFill>
                  <a:schemeClr val="dk1"/>
                </a:solidFill>
              </a:rPr>
              <a:t> Every day at 9:00 PM (21:00) - configured in `backend/main.py`</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a:t>
            </a:r>
            <a:r>
              <a:rPr b="1" lang="en-US" sz="1600">
                <a:solidFill>
                  <a:schemeClr val="dk1"/>
                </a:solidFill>
              </a:rPr>
              <a:t> Purpose:</a:t>
            </a:r>
            <a:r>
              <a:rPr lang="en-US" sz="1600">
                <a:solidFill>
                  <a:schemeClr val="dk1"/>
                </a:solidFill>
              </a:rPr>
              <a:t> Refreshes demographic clusters and citizen service provisions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a:t>
            </a:r>
            <a:r>
              <a:rPr b="1" lang="en-US" sz="1600">
                <a:solidFill>
                  <a:schemeClr val="dk1"/>
                </a:solidFill>
              </a:rPr>
              <a:t> Triggers:</a:t>
            </a:r>
            <a:r>
              <a:rPr lang="en-US" sz="1600">
                <a:solidFill>
                  <a:schemeClr val="dk1"/>
                </a:solidFill>
              </a:rPr>
              <a:t> `scheduled_generate_demo_csvs()` function</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 </a:t>
            </a:r>
            <a:r>
              <a:rPr b="1" lang="en-US" sz="1600">
                <a:solidFill>
                  <a:schemeClr val="dk1"/>
                </a:solidFill>
              </a:rPr>
              <a:t>Updates:</a:t>
            </a:r>
            <a:r>
              <a:rPr lang="en-US" sz="1600">
                <a:solidFill>
                  <a:schemeClr val="dk1"/>
                </a:solidFill>
              </a:rPr>
              <a:t> `grouped_df.csv`, `cluster_service_map.pkl`, `service_id_with_name.csv`, `services.csv`, `final_df.csv`</a:t>
            </a:r>
            <a:endParaRPr sz="16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600">
                <a:solidFill>
                  <a:schemeClr val="dk1"/>
                </a:solidFill>
              </a:rPr>
              <a:t>• </a:t>
            </a:r>
            <a:r>
              <a:rPr b="1" lang="en-US" sz="1600">
                <a:solidFill>
                  <a:schemeClr val="dk1"/>
                </a:solidFill>
              </a:rPr>
              <a:t>Rationale:</a:t>
            </a:r>
            <a:r>
              <a:rPr lang="en-US" sz="1600">
                <a:solidFill>
                  <a:schemeClr val="dk1"/>
                </a:solidFill>
              </a:rPr>
              <a:t> Keeps demographic recommendations current with new citizen registrations and service provisions</a:t>
            </a:r>
            <a:endParaRPr sz="1600">
              <a:solidFill>
                <a:schemeClr val="dk1"/>
              </a:solidFill>
            </a:endParaRPr>
          </a:p>
        </p:txBody>
      </p:sp>
      <p:sp>
        <p:nvSpPr>
          <p:cNvPr id="295" name="Google Shape;295;p33"/>
          <p:cNvSpPr txBox="1"/>
          <p:nvPr/>
        </p:nvSpPr>
        <p:spPr>
          <a:xfrm>
            <a:off x="6928425" y="1006000"/>
            <a:ext cx="7286400" cy="357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000">
                <a:solidFill>
                  <a:srgbClr val="4F81BD"/>
                </a:solidFill>
              </a:rPr>
              <a:t>Monthly District Refresh</a:t>
            </a:r>
            <a:endParaRPr b="1" sz="2000">
              <a:solidFill>
                <a:srgbClr val="4F81BD"/>
              </a:solidFill>
            </a:endParaRPr>
          </a:p>
          <a:p>
            <a:pPr indent="0" lvl="0" marL="0" rtl="0" algn="l">
              <a:lnSpc>
                <a:spcPct val="115000"/>
              </a:lnSpc>
              <a:spcBef>
                <a:spcPts val="1200"/>
              </a:spcBef>
              <a:spcAft>
                <a:spcPts val="0"/>
              </a:spcAft>
              <a:buNone/>
            </a:pPr>
            <a:r>
              <a:rPr lang="en-US" sz="1100">
                <a:solidFill>
                  <a:schemeClr val="dk1"/>
                </a:solidFill>
              </a:rPr>
              <a:t>• </a:t>
            </a:r>
            <a:r>
              <a:rPr b="1" lang="en-US" sz="1800">
                <a:solidFill>
                  <a:schemeClr val="dk1"/>
                </a:solidFill>
              </a:rPr>
              <a:t>S</a:t>
            </a:r>
            <a:r>
              <a:rPr b="1" lang="en-US" sz="1600">
                <a:solidFill>
                  <a:schemeClr val="dk1"/>
                </a:solidFill>
              </a:rPr>
              <a:t>chedule:</a:t>
            </a:r>
            <a:r>
              <a:rPr lang="en-US" sz="1600">
                <a:solidFill>
                  <a:schemeClr val="dk1"/>
                </a:solidFill>
              </a:rPr>
              <a:t> 1st of every month at 3:00 AM (03:00) - configured in `backend/main.py`</a:t>
            </a:r>
            <a:endParaRPr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 Purpose:</a:t>
            </a:r>
            <a:r>
              <a:rPr lang="en-US" sz="1600">
                <a:solidFill>
                  <a:schemeClr val="dk1"/>
                </a:solidFill>
              </a:rPr>
              <a:t> Updates popular services by district based on historical usage patterns</a:t>
            </a:r>
            <a:endParaRPr sz="1600">
              <a:solidFill>
                <a:schemeClr val="dk1"/>
              </a:solidFill>
            </a:endParaRPr>
          </a:p>
          <a:p>
            <a:pPr indent="0" lvl="0" marL="0" rtl="0" algn="l">
              <a:lnSpc>
                <a:spcPct val="115000"/>
              </a:lnSpc>
              <a:spcBef>
                <a:spcPts val="1200"/>
              </a:spcBef>
              <a:spcAft>
                <a:spcPts val="0"/>
              </a:spcAft>
              <a:buNone/>
            </a:pPr>
            <a:r>
              <a:rPr lang="en-US" sz="1600">
                <a:solidFill>
                  <a:schemeClr val="dk1"/>
                </a:solidFill>
              </a:rPr>
              <a:t>•</a:t>
            </a:r>
            <a:r>
              <a:rPr b="1" lang="en-US" sz="1600">
                <a:solidFill>
                  <a:schemeClr val="dk1"/>
                </a:solidFill>
              </a:rPr>
              <a:t> Triggers</a:t>
            </a:r>
            <a:r>
              <a:rPr lang="en-US" sz="1600">
                <a:solidFill>
                  <a:schemeClr val="dk1"/>
                </a:solidFill>
              </a:rPr>
              <a:t>: `scheduled_generate_district_csvs()` function</a:t>
            </a:r>
            <a:endParaRPr sz="1600">
              <a:solidFill>
                <a:schemeClr val="dk1"/>
              </a:solidFill>
            </a:endParaRPr>
          </a:p>
          <a:p>
            <a:pPr indent="0" lvl="0" marL="0" rtl="0" algn="l">
              <a:lnSpc>
                <a:spcPct val="115000"/>
              </a:lnSpc>
              <a:spcBef>
                <a:spcPts val="1200"/>
              </a:spcBef>
              <a:spcAft>
                <a:spcPts val="0"/>
              </a:spcAft>
              <a:buNone/>
            </a:pPr>
            <a:r>
              <a:rPr lang="en-US" sz="1600">
                <a:solidFill>
                  <a:schemeClr val="dk1"/>
                </a:solidFill>
              </a:rPr>
              <a:t>•</a:t>
            </a:r>
            <a:r>
              <a:rPr b="1" lang="en-US" sz="1600">
                <a:solidFill>
                  <a:schemeClr val="dk1"/>
                </a:solidFill>
              </a:rPr>
              <a:t> Updates:</a:t>
            </a:r>
            <a:r>
              <a:rPr lang="en-US" sz="1600">
                <a:solidFill>
                  <a:schemeClr val="dk1"/>
                </a:solidFill>
              </a:rPr>
              <a:t> `district_top_services.csv`</a:t>
            </a:r>
            <a:endParaRPr sz="1600">
              <a:solidFill>
                <a:schemeClr val="dk1"/>
              </a:solidFill>
            </a:endParaRPr>
          </a:p>
          <a:p>
            <a:pPr indent="0" lvl="0" marL="0" rtl="0" algn="l">
              <a:lnSpc>
                <a:spcPct val="115000"/>
              </a:lnSpc>
              <a:spcBef>
                <a:spcPts val="1200"/>
              </a:spcBef>
              <a:spcAft>
                <a:spcPts val="1200"/>
              </a:spcAft>
              <a:buNone/>
            </a:pPr>
            <a:r>
              <a:rPr lang="en-US" sz="1600">
                <a:solidFill>
                  <a:schemeClr val="dk1"/>
                </a:solidFill>
              </a:rPr>
              <a:t>• </a:t>
            </a:r>
            <a:r>
              <a:rPr b="1" lang="en-US" sz="1600">
                <a:solidFill>
                  <a:schemeClr val="dk1"/>
                </a:solidFill>
              </a:rPr>
              <a:t>Rationale: </a:t>
            </a:r>
            <a:r>
              <a:rPr lang="en-US" sz="1600">
                <a:solidFill>
                  <a:schemeClr val="dk1"/>
                </a:solidFill>
              </a:rPr>
              <a:t>District service popularity changes more slowly, monthly updates are sufficient</a:t>
            </a:r>
            <a:endParaRPr sz="1600">
              <a:solidFill>
                <a:schemeClr val="dk1"/>
              </a:solidFill>
            </a:endParaRPr>
          </a:p>
        </p:txBody>
      </p:sp>
      <p:sp>
        <p:nvSpPr>
          <p:cNvPr id="296" name="Google Shape;296;p33"/>
          <p:cNvSpPr txBox="1"/>
          <p:nvPr/>
        </p:nvSpPr>
        <p:spPr>
          <a:xfrm>
            <a:off x="2824725" y="5235350"/>
            <a:ext cx="8578500" cy="253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000">
                <a:solidFill>
                  <a:srgbClr val="4F81BD"/>
                </a:solidFill>
              </a:rPr>
              <a:t>Manual Content Refresh</a:t>
            </a:r>
            <a:endParaRPr b="1" sz="2000">
              <a:solidFill>
                <a:srgbClr val="4F81BD"/>
              </a:solidFill>
            </a:endParaRPr>
          </a:p>
          <a:p>
            <a:pPr indent="0" lvl="0" marL="0" rtl="0" algn="l">
              <a:lnSpc>
                <a:spcPct val="115000"/>
              </a:lnSpc>
              <a:spcBef>
                <a:spcPts val="1200"/>
              </a:spcBef>
              <a:spcAft>
                <a:spcPts val="0"/>
              </a:spcAft>
              <a:buNone/>
            </a:pPr>
            <a:r>
              <a:rPr b="1" lang="en-US" sz="1100">
                <a:solidFill>
                  <a:schemeClr val="dk1"/>
                </a:solidFill>
              </a:rPr>
              <a:t>• </a:t>
            </a:r>
            <a:r>
              <a:rPr b="1" lang="en-US" sz="1600">
                <a:solidFill>
                  <a:schemeClr val="dk1"/>
                </a:solidFill>
              </a:rPr>
              <a:t>Schedule: </a:t>
            </a:r>
            <a:r>
              <a:rPr lang="en-US" sz="1600">
                <a:solidFill>
                  <a:schemeClr val="dk1"/>
                </a:solidFill>
              </a:rPr>
              <a:t>On-demand (triggered manually by admin/developer)</a:t>
            </a:r>
            <a:endParaRPr sz="1600">
              <a:solidFill>
                <a:schemeClr val="dk1"/>
              </a:solidFill>
            </a:endParaRPr>
          </a:p>
          <a:p>
            <a:pPr indent="0" lvl="0" marL="0" rtl="0" algn="l">
              <a:lnSpc>
                <a:spcPct val="115000"/>
              </a:lnSpc>
              <a:spcBef>
                <a:spcPts val="1200"/>
              </a:spcBef>
              <a:spcAft>
                <a:spcPts val="0"/>
              </a:spcAft>
              <a:buNone/>
            </a:pPr>
            <a:r>
              <a:rPr lang="en-US" sz="1600">
                <a:solidFill>
                  <a:schemeClr val="dk1"/>
                </a:solidFill>
              </a:rPr>
              <a:t>• </a:t>
            </a:r>
            <a:r>
              <a:rPr b="1" lang="en-US" sz="1600">
                <a:solidFill>
                  <a:schemeClr val="dk1"/>
                </a:solidFill>
              </a:rPr>
              <a:t>When to Trigger</a:t>
            </a:r>
            <a:r>
              <a:rPr lang="en-US" sz="1600">
                <a:solidFill>
                  <a:schemeClr val="dk1"/>
                </a:solidFill>
              </a:rPr>
              <a:t>: When new services are added to the system or  existing services are  removed or deprecated</a:t>
            </a:r>
            <a:endParaRPr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 How to Trigger</a:t>
            </a:r>
            <a:r>
              <a:rPr lang="en-US" sz="1600">
                <a:solidFill>
                  <a:schemeClr val="dk1"/>
                </a:solidFill>
              </a:rPr>
              <a:t>: `POST /generate-content-csvs` endpoint</a:t>
            </a:r>
            <a:endParaRPr sz="1600">
              <a:solidFill>
                <a:schemeClr val="dk1"/>
              </a:solidFill>
            </a:endParaRPr>
          </a:p>
          <a:p>
            <a:pPr indent="0" lvl="0" marL="0" rtl="0" algn="l">
              <a:lnSpc>
                <a:spcPct val="115000"/>
              </a:lnSpc>
              <a:spcBef>
                <a:spcPts val="1200"/>
              </a:spcBef>
              <a:spcAft>
                <a:spcPts val="1200"/>
              </a:spcAft>
              <a:buNone/>
            </a:pPr>
            <a:r>
              <a:rPr lang="en-US" sz="1600">
                <a:solidFill>
                  <a:schemeClr val="dk1"/>
                </a:solidFill>
              </a:rPr>
              <a:t>•</a:t>
            </a:r>
            <a:r>
              <a:rPr b="1" lang="en-US" sz="1600">
                <a:solidFill>
                  <a:schemeClr val="dk1"/>
                </a:solidFill>
              </a:rPr>
              <a:t> Updates:</a:t>
            </a:r>
            <a:r>
              <a:rPr lang="en-US" sz="1600">
                <a:solidFill>
                  <a:schemeClr val="dk1"/>
                </a:solidFill>
              </a:rPr>
              <a:t> `s</a:t>
            </a:r>
            <a:r>
              <a:rPr lang="en-US" sz="1600">
                <a:solidFill>
                  <a:schemeClr val="dk1"/>
                </a:solidFill>
              </a:rPr>
              <a:t>ervice_with_domains.csv</a:t>
            </a:r>
            <a:r>
              <a:rPr b="1" lang="en-US" sz="1600">
                <a:solidFill>
                  <a:schemeClr val="dk1"/>
                </a:solidFill>
              </a:rPr>
              <a:t>`,</a:t>
            </a:r>
            <a:r>
              <a:rPr lang="en-US" sz="1600">
                <a:solidFill>
                  <a:schemeClr val="dk1"/>
                </a:solidFill>
              </a:rPr>
              <a:t> `openai_similarity_matrix.csv`</a:t>
            </a:r>
            <a:endParaRPr sz="16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grpSp>
        <p:nvGrpSpPr>
          <p:cNvPr id="301" name="Google Shape;301;p34"/>
          <p:cNvGrpSpPr/>
          <p:nvPr/>
        </p:nvGrpSpPr>
        <p:grpSpPr>
          <a:xfrm>
            <a:off x="0" y="70905"/>
            <a:ext cx="14630400" cy="1179582"/>
            <a:chOff x="0" y="59087"/>
            <a:chExt cx="12192000" cy="982985"/>
          </a:xfrm>
        </p:grpSpPr>
        <p:pic>
          <p:nvPicPr>
            <p:cNvPr id="302" name="Google Shape;302;p34"/>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303" name="Google Shape;303;p34"/>
            <p:cNvCxnSpPr/>
            <p:nvPr/>
          </p:nvCxnSpPr>
          <p:spPr>
            <a:xfrm>
              <a:off x="1588" y="689199"/>
              <a:ext cx="12188700" cy="0"/>
            </a:xfrm>
            <a:prstGeom prst="straightConnector1">
              <a:avLst/>
            </a:prstGeom>
            <a:noFill/>
            <a:ln cap="flat" cmpd="sng" w="57150">
              <a:solidFill>
                <a:srgbClr val="00B050"/>
              </a:solidFill>
              <a:prstDash val="solid"/>
              <a:miter lim="800000"/>
              <a:headEnd len="sm" w="sm" type="none"/>
              <a:tailEnd len="sm" w="sm" type="none"/>
            </a:ln>
          </p:spPr>
        </p:cxnSp>
        <p:sp>
          <p:nvSpPr>
            <p:cNvPr id="304" name="Google Shape;304;p34"/>
            <p:cNvSpPr txBox="1"/>
            <p:nvPr/>
          </p:nvSpPr>
          <p:spPr>
            <a:xfrm>
              <a:off x="0" y="90472"/>
              <a:ext cx="12192000" cy="9516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1100"/>
                <a:buFont typeface="Arial"/>
                <a:buNone/>
              </a:pPr>
              <a:r>
                <a:rPr b="1" i="0" lang="en-US" sz="2800" u="none" cap="none" strike="noStrike">
                  <a:solidFill>
                    <a:srgbClr val="002060"/>
                  </a:solidFill>
                  <a:latin typeface="ADLaM Display"/>
                  <a:ea typeface="ADLaM Display"/>
                  <a:cs typeface="ADLaM Display"/>
                  <a:sym typeface="ADLaM Display"/>
                </a:rPr>
                <a:t>Evaluation &amp; Results</a:t>
              </a:r>
              <a:endParaRPr b="1" i="0" sz="2800" u="none" cap="none" strike="noStrike">
                <a:solidFill>
                  <a:srgbClr val="002060"/>
                </a:solidFill>
                <a:latin typeface="ADLaM Display"/>
                <a:ea typeface="ADLaM Display"/>
                <a:cs typeface="ADLaM Display"/>
                <a:sym typeface="ADLaM Display"/>
              </a:endParaRPr>
            </a:p>
            <a:p>
              <a:pPr indent="0" lvl="0" marL="0" marR="0" rtl="0" algn="ctr">
                <a:lnSpc>
                  <a:spcPct val="100000"/>
                </a:lnSpc>
                <a:spcBef>
                  <a:spcPts val="0"/>
                </a:spcBef>
                <a:spcAft>
                  <a:spcPts val="0"/>
                </a:spcAft>
                <a:buClr>
                  <a:srgbClr val="000000"/>
                </a:buClr>
                <a:buSzPts val="3600"/>
                <a:buFont typeface="Arial"/>
                <a:buNone/>
              </a:pPr>
              <a:r>
                <a:t/>
              </a:r>
              <a:endParaRPr b="1" i="0" sz="3600" u="none" cap="none" strike="noStrike">
                <a:solidFill>
                  <a:srgbClr val="002060"/>
                </a:solidFill>
                <a:latin typeface="ADLaM Display"/>
                <a:ea typeface="ADLaM Display"/>
                <a:cs typeface="ADLaM Display"/>
                <a:sym typeface="ADLaM Display"/>
              </a:endParaRPr>
            </a:p>
          </p:txBody>
        </p:sp>
        <p:pic>
          <p:nvPicPr>
            <p:cNvPr id="305" name="Google Shape;305;p34"/>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graphicFrame>
        <p:nvGraphicFramePr>
          <p:cNvPr id="306" name="Google Shape;306;p34"/>
          <p:cNvGraphicFramePr/>
          <p:nvPr/>
        </p:nvGraphicFramePr>
        <p:xfrm>
          <a:off x="3335725" y="5233988"/>
          <a:ext cx="3000000" cy="3000000"/>
        </p:xfrm>
        <a:graphic>
          <a:graphicData uri="http://schemas.openxmlformats.org/drawingml/2006/table">
            <a:tbl>
              <a:tblPr>
                <a:noFill/>
                <a:tableStyleId>{548E66F0-F909-4E49-8C96-94DA8A145F9E}</a:tableStyleId>
              </a:tblPr>
              <a:tblGrid>
                <a:gridCol w="1953475"/>
                <a:gridCol w="2449125"/>
                <a:gridCol w="2915625"/>
              </a:tblGrid>
              <a:tr h="190500">
                <a:tc>
                  <a:txBody>
                    <a:bodyPr/>
                    <a:lstStyle/>
                    <a:p>
                      <a:pPr indent="0" lvl="0" marL="0" marR="0" rtl="0" algn="ctr">
                        <a:lnSpc>
                          <a:spcPct val="115000"/>
                        </a:lnSpc>
                        <a:spcBef>
                          <a:spcPts val="0"/>
                        </a:spcBef>
                        <a:spcAft>
                          <a:spcPts val="0"/>
                        </a:spcAft>
                        <a:buClr>
                          <a:srgbClr val="000000"/>
                        </a:buClr>
                        <a:buSzPts val="1500"/>
                        <a:buFont typeface="Arial"/>
                        <a:buNone/>
                      </a:pPr>
                      <a:r>
                        <a:rPr lang="en-US" sz="1500" u="none" cap="none" strike="noStrike">
                          <a:latin typeface="Lato"/>
                          <a:ea typeface="Lato"/>
                          <a:cs typeface="Lato"/>
                          <a:sym typeface="Lato"/>
                        </a:rPr>
                        <a:t>Metric</a:t>
                      </a:r>
                      <a:endParaRPr sz="1500" u="none" cap="none" strike="noStrike">
                        <a:latin typeface="Lato"/>
                        <a:ea typeface="Lato"/>
                        <a:cs typeface="Lato"/>
                        <a:sym typeface="Lato"/>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500"/>
                        <a:buFont typeface="Arial"/>
                        <a:buNone/>
                      </a:pPr>
                      <a:r>
                        <a:rPr lang="en-US" sz="1500" u="none" cap="none" strike="noStrike">
                          <a:latin typeface="Lato"/>
                          <a:ea typeface="Lato"/>
                          <a:cs typeface="Lato"/>
                          <a:sym typeface="Lato"/>
                        </a:rPr>
                        <a:t>Sample Size</a:t>
                      </a:r>
                      <a:endParaRPr sz="1500" u="none" cap="none" strike="noStrike">
                        <a:latin typeface="Lato"/>
                        <a:ea typeface="Lato"/>
                        <a:cs typeface="Lato"/>
                        <a:sym typeface="Lato"/>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500"/>
                        <a:buFont typeface="Arial"/>
                        <a:buNone/>
                      </a:pPr>
                      <a:r>
                        <a:rPr lang="en-US" sz="1500" u="none" cap="none" strike="noStrike">
                          <a:latin typeface="Lato"/>
                          <a:ea typeface="Lato"/>
                          <a:cs typeface="Lato"/>
                          <a:sym typeface="Lato"/>
                        </a:rPr>
                        <a:t>Average Score</a:t>
                      </a:r>
                      <a:endParaRPr sz="1500" u="none" cap="none" strike="noStrike">
                        <a:latin typeface="Lato"/>
                        <a:ea typeface="Lato"/>
                        <a:cs typeface="Lato"/>
                        <a:sym typeface="Lato"/>
                      </a:endParaRPr>
                    </a:p>
                  </a:txBody>
                  <a:tcPr marT="91425" marB="91425" marR="91425" marL="91425"/>
                </a:tc>
              </a:tr>
              <a:tr h="228600">
                <a:tc>
                  <a:txBody>
                    <a:bodyPr/>
                    <a:lstStyle/>
                    <a:p>
                      <a:pPr indent="0" lvl="0" marL="0" marR="0" rtl="0" algn="ctr">
                        <a:lnSpc>
                          <a:spcPct val="100000"/>
                        </a:lnSpc>
                        <a:spcBef>
                          <a:spcPts val="0"/>
                        </a:spcBef>
                        <a:spcAft>
                          <a:spcPts val="0"/>
                        </a:spcAft>
                        <a:buClr>
                          <a:srgbClr val="000000"/>
                        </a:buClr>
                        <a:buSzPts val="1500"/>
                        <a:buFont typeface="Arial"/>
                        <a:buNone/>
                      </a:pPr>
                      <a:r>
                        <a:rPr lang="en-US" sz="1500" u="none" cap="none" strike="noStrike">
                          <a:latin typeface="Lato"/>
                          <a:ea typeface="Lato"/>
                          <a:cs typeface="Lato"/>
                          <a:sym typeface="Lato"/>
                        </a:rPr>
                        <a:t>Coverage</a:t>
                      </a:r>
                      <a:endParaRPr sz="1500" u="none" cap="none" strike="noStrike">
                        <a:latin typeface="Lato"/>
                        <a:ea typeface="Lato"/>
                        <a:cs typeface="Lato"/>
                        <a:sym typeface="La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Lato"/>
                          <a:ea typeface="Lato"/>
                          <a:cs typeface="Lato"/>
                          <a:sym typeface="Lato"/>
                        </a:rPr>
                        <a:t>100 Citizens</a:t>
                      </a:r>
                      <a:endParaRPr sz="1800" u="none" cap="none" strike="noStrike">
                        <a:latin typeface="Lato"/>
                        <a:ea typeface="Lato"/>
                        <a:cs typeface="Lato"/>
                        <a:sym typeface="La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500"/>
                        <a:buFont typeface="Arial"/>
                        <a:buNone/>
                      </a:pPr>
                      <a:r>
                        <a:rPr lang="en-US" sz="1500" u="none" cap="none" strike="noStrike">
                          <a:latin typeface="Lato"/>
                          <a:ea typeface="Lato"/>
                          <a:cs typeface="Lato"/>
                          <a:sym typeface="Lato"/>
                        </a:rPr>
                        <a:t>0.</a:t>
                      </a:r>
                      <a:r>
                        <a:rPr lang="en-US" sz="1500">
                          <a:latin typeface="Lato"/>
                          <a:ea typeface="Lato"/>
                          <a:cs typeface="Lato"/>
                          <a:sym typeface="Lato"/>
                        </a:rPr>
                        <a:t>60</a:t>
                      </a:r>
                      <a:r>
                        <a:rPr lang="en-US" sz="1500" u="none" cap="none" strike="noStrike">
                          <a:latin typeface="Lato"/>
                          <a:ea typeface="Lato"/>
                          <a:cs typeface="Lato"/>
                          <a:sym typeface="Lato"/>
                        </a:rPr>
                        <a:t>(60%)</a:t>
                      </a:r>
                      <a:endParaRPr sz="1500" u="none" cap="none" strike="noStrike">
                        <a:latin typeface="Lato"/>
                        <a:ea typeface="Lato"/>
                        <a:cs typeface="Lato"/>
                        <a:sym typeface="Lato"/>
                      </a:endParaRPr>
                    </a:p>
                  </a:txBody>
                  <a:tcPr marT="91425" marB="91425" marR="91425" marL="91425"/>
                </a:tc>
              </a:tr>
            </a:tbl>
          </a:graphicData>
        </a:graphic>
      </p:graphicFrame>
      <p:sp>
        <p:nvSpPr>
          <p:cNvPr id="307" name="Google Shape;307;p34"/>
          <p:cNvSpPr txBox="1"/>
          <p:nvPr/>
        </p:nvSpPr>
        <p:spPr>
          <a:xfrm>
            <a:off x="3335725" y="6445300"/>
            <a:ext cx="66543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Lato"/>
                <a:ea typeface="Lato"/>
                <a:cs typeface="Lato"/>
                <a:sym typeface="Lato"/>
              </a:rPr>
              <a:t>I</a:t>
            </a:r>
            <a:r>
              <a:rPr b="1" i="0" lang="en-US" sz="1400" u="none" cap="none" strike="noStrike">
                <a:solidFill>
                  <a:schemeClr val="dk1"/>
                </a:solidFill>
                <a:latin typeface="Lato"/>
                <a:ea typeface="Lato"/>
                <a:cs typeface="Lato"/>
                <a:sym typeface="Lato"/>
              </a:rPr>
              <a:t>nterpretation:</a:t>
            </a:r>
            <a:r>
              <a:rPr b="0" i="0" lang="en-US" sz="1400" u="none" cap="none" strike="noStrike">
                <a:solidFill>
                  <a:schemeClr val="dk1"/>
                </a:solidFill>
                <a:latin typeface="Lato"/>
                <a:ea typeface="Lato"/>
                <a:cs typeface="Lato"/>
                <a:sym typeface="Lato"/>
              </a:rPr>
              <a:t> On average, </a:t>
            </a:r>
            <a:r>
              <a:rPr lang="en-US">
                <a:solidFill>
                  <a:schemeClr val="dk1"/>
                </a:solidFill>
                <a:latin typeface="Lato"/>
                <a:ea typeface="Lato"/>
                <a:cs typeface="Lato"/>
                <a:sym typeface="Lato"/>
              </a:rPr>
              <a:t>60</a:t>
            </a:r>
            <a:r>
              <a:rPr b="0" i="0" lang="en-US" sz="1400" u="none" cap="none" strike="noStrike">
                <a:solidFill>
                  <a:schemeClr val="dk1"/>
                </a:solidFill>
                <a:latin typeface="Lato"/>
                <a:ea typeface="Lato"/>
                <a:cs typeface="Lato"/>
                <a:sym typeface="Lato"/>
              </a:rPr>
              <a:t>% of the services previously used by a citizen were either exactly matched  to those in the top-N list generated by the recommendation system.</a:t>
            </a:r>
            <a:endParaRPr b="0" i="0" sz="1700" u="none" cap="none" strike="noStrike">
              <a:solidFill>
                <a:srgbClr val="000000"/>
              </a:solidFill>
              <a:latin typeface="Lato"/>
              <a:ea typeface="Lato"/>
              <a:cs typeface="Lato"/>
              <a:sym typeface="Lato"/>
            </a:endParaRPr>
          </a:p>
        </p:txBody>
      </p:sp>
      <p:sp>
        <p:nvSpPr>
          <p:cNvPr id="308" name="Google Shape;308;p34"/>
          <p:cNvSpPr txBox="1"/>
          <p:nvPr/>
        </p:nvSpPr>
        <p:spPr>
          <a:xfrm>
            <a:off x="336425" y="1446075"/>
            <a:ext cx="6748800" cy="3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t>Coverage </a:t>
            </a:r>
            <a:endParaRPr b="1" sz="2200"/>
          </a:p>
          <a:p>
            <a:pPr indent="0" lvl="0" marL="0" rtl="0" algn="l">
              <a:spcBef>
                <a:spcPts val="0"/>
              </a:spcBef>
              <a:spcAft>
                <a:spcPts val="0"/>
              </a:spcAft>
              <a:buNone/>
            </a:pPr>
            <a:r>
              <a:rPr lang="en-US" sz="2000"/>
              <a:t>Our system achieved a high coverage rate, indicating its ability to provide relevant recommendations across a broad spectrum of citizen inquiries, based on similarity-driven relevance.</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Coverage=X/Y</a:t>
            </a:r>
            <a:endParaRPr sz="1700"/>
          </a:p>
          <a:p>
            <a:pPr indent="0" lvl="0" marL="0" rtl="0" algn="l">
              <a:spcBef>
                <a:spcPts val="0"/>
              </a:spcBef>
              <a:spcAft>
                <a:spcPts val="0"/>
              </a:spcAft>
              <a:buClr>
                <a:schemeClr val="dk1"/>
              </a:buClr>
              <a:buSzPts val="1100"/>
              <a:buFont typeface="Arial"/>
              <a:buNone/>
            </a:pPr>
            <a:r>
              <a:rPr lang="en-US" sz="1700">
                <a:solidFill>
                  <a:schemeClr val="dk1"/>
                </a:solidFill>
              </a:rPr>
              <a:t>X=</a:t>
            </a:r>
            <a:r>
              <a:rPr lang="en-US" sz="1700">
                <a:solidFill>
                  <a:schemeClr val="dk1"/>
                </a:solidFill>
              </a:rPr>
              <a:t>Number of recommended services that match the previously used services​</a:t>
            </a:r>
            <a:endParaRPr sz="1300"/>
          </a:p>
          <a:p>
            <a:pPr indent="0" lvl="0" marL="0" rtl="0" algn="l">
              <a:spcBef>
                <a:spcPts val="0"/>
              </a:spcBef>
              <a:spcAft>
                <a:spcPts val="0"/>
              </a:spcAft>
              <a:buNone/>
            </a:pPr>
            <a:r>
              <a:rPr lang="en-US" sz="1800"/>
              <a:t>Y=Total number of services previously used by the citizen</a:t>
            </a:r>
            <a:endParaRPr sz="2200"/>
          </a:p>
        </p:txBody>
      </p:sp>
      <p:sp>
        <p:nvSpPr>
          <p:cNvPr id="309" name="Google Shape;309;p34"/>
          <p:cNvSpPr txBox="1"/>
          <p:nvPr/>
        </p:nvSpPr>
        <p:spPr>
          <a:xfrm>
            <a:off x="7085150" y="1446075"/>
            <a:ext cx="7022400" cy="335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Uptake Rate(Future)</a:t>
            </a:r>
            <a:endParaRPr b="1" sz="1900">
              <a:solidFill>
                <a:schemeClr val="dk1"/>
              </a:solidFill>
            </a:endParaRPr>
          </a:p>
          <a:p>
            <a:pPr indent="0" lvl="0" marL="0" rtl="0" algn="l">
              <a:lnSpc>
                <a:spcPct val="115000"/>
              </a:lnSpc>
              <a:spcBef>
                <a:spcPts val="1200"/>
              </a:spcBef>
              <a:spcAft>
                <a:spcPts val="0"/>
              </a:spcAft>
              <a:buNone/>
            </a:pPr>
            <a:r>
              <a:rPr lang="en-US" sz="1800">
                <a:solidFill>
                  <a:schemeClr val="dk1"/>
                </a:solidFill>
              </a:rPr>
              <a:t>A manual operator-guided evaluation process will be implemented post-deployment to assess service uptake effectiveness.</a:t>
            </a:r>
            <a:endParaRPr sz="1800">
              <a:solidFill>
                <a:schemeClr val="dk1"/>
              </a:solidFill>
            </a:endParaRPr>
          </a:p>
          <a:p>
            <a:pPr indent="0" lvl="0" marL="0" rtl="0" algn="l">
              <a:lnSpc>
                <a:spcPct val="115000"/>
              </a:lnSpc>
              <a:spcBef>
                <a:spcPts val="1200"/>
              </a:spcBef>
              <a:spcAft>
                <a:spcPts val="0"/>
              </a:spcAft>
              <a:buNone/>
            </a:pPr>
            <a:r>
              <a:rPr lang="en-US" sz="1800">
                <a:solidFill>
                  <a:schemeClr val="dk1"/>
                </a:solidFill>
              </a:rPr>
              <a:t>Operators will select the most relevant recommendation from three models — demographic, district-based, and content-based — during live citizen interactions.</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These selections will be logged and analyzed to determine which model performs best across varying citizen profiles.</a:t>
            </a:r>
            <a:endParaRPr sz="1800">
              <a:solidFill>
                <a:schemeClr val="dk1"/>
              </a:solidFill>
            </a:endParaRPr>
          </a:p>
          <a:p>
            <a:pPr indent="0" lvl="0" marL="0" rtl="0" algn="l">
              <a:spcBef>
                <a:spcPts val="120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grpSp>
        <p:nvGrpSpPr>
          <p:cNvPr id="314" name="Google Shape;314;p35"/>
          <p:cNvGrpSpPr/>
          <p:nvPr/>
        </p:nvGrpSpPr>
        <p:grpSpPr>
          <a:xfrm>
            <a:off x="0" y="70905"/>
            <a:ext cx="14630400" cy="756134"/>
            <a:chOff x="0" y="59087"/>
            <a:chExt cx="12192000" cy="630112"/>
          </a:xfrm>
        </p:grpSpPr>
        <p:pic>
          <p:nvPicPr>
            <p:cNvPr id="315" name="Google Shape;315;p35"/>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316" name="Google Shape;316;p35"/>
            <p:cNvCxnSpPr/>
            <p:nvPr/>
          </p:nvCxnSpPr>
          <p:spPr>
            <a:xfrm>
              <a:off x="1588" y="689199"/>
              <a:ext cx="12188700" cy="0"/>
            </a:xfrm>
            <a:prstGeom prst="straightConnector1">
              <a:avLst/>
            </a:prstGeom>
            <a:noFill/>
            <a:ln cap="flat" cmpd="sng" w="57150">
              <a:solidFill>
                <a:srgbClr val="00B050"/>
              </a:solidFill>
              <a:prstDash val="solid"/>
              <a:miter lim="800000"/>
              <a:headEnd len="sm" w="sm" type="none"/>
              <a:tailEnd len="sm" w="sm" type="none"/>
            </a:ln>
          </p:spPr>
        </p:cxnSp>
        <p:sp>
          <p:nvSpPr>
            <p:cNvPr id="317" name="Google Shape;317;p35"/>
            <p:cNvSpPr txBox="1"/>
            <p:nvPr/>
          </p:nvSpPr>
          <p:spPr>
            <a:xfrm>
              <a:off x="0" y="90472"/>
              <a:ext cx="12192000" cy="538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rgbClr val="002060"/>
                  </a:solidFill>
                  <a:latin typeface="ADLaM Display"/>
                  <a:ea typeface="ADLaM Display"/>
                  <a:cs typeface="ADLaM Display"/>
                  <a:sym typeface="ADLaM Display"/>
                </a:rPr>
                <a:t>Deployment Plan</a:t>
              </a:r>
              <a:endParaRPr b="0" i="0" sz="1400" u="none" cap="none" strike="noStrike">
                <a:solidFill>
                  <a:srgbClr val="000000"/>
                </a:solidFill>
                <a:latin typeface="Arial"/>
                <a:ea typeface="Arial"/>
                <a:cs typeface="Arial"/>
                <a:sym typeface="Arial"/>
              </a:endParaRPr>
            </a:p>
          </p:txBody>
        </p:sp>
        <p:pic>
          <p:nvPicPr>
            <p:cNvPr id="318" name="Google Shape;318;p35"/>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sp>
        <p:nvSpPr>
          <p:cNvPr id="319" name="Google Shape;319;p35"/>
          <p:cNvSpPr txBox="1"/>
          <p:nvPr/>
        </p:nvSpPr>
        <p:spPr>
          <a:xfrm>
            <a:off x="1305575" y="1684075"/>
            <a:ext cx="13228800" cy="587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1800" u="none" cap="none" strike="noStrike">
                <a:solidFill>
                  <a:schemeClr val="dk1"/>
                </a:solidFill>
                <a:latin typeface="Arial"/>
                <a:ea typeface="Arial"/>
                <a:cs typeface="Arial"/>
                <a:sym typeface="Arial"/>
              </a:rPr>
              <a:t>1</a:t>
            </a:r>
            <a:r>
              <a:rPr b="1" i="0" lang="en-US" sz="2000" u="none" cap="none" strike="noStrike">
                <a:solidFill>
                  <a:schemeClr val="dk1"/>
                </a:solidFill>
                <a:latin typeface="Arial"/>
                <a:ea typeface="Arial"/>
                <a:cs typeface="Arial"/>
                <a:sym typeface="Arial"/>
              </a:rPr>
              <a:t>.Database Integration</a:t>
            </a:r>
            <a:endParaRPr b="1" sz="2000">
              <a:solidFill>
                <a:schemeClr val="dk1"/>
              </a:solidFill>
            </a:endParaRPr>
          </a:p>
          <a:p>
            <a:pPr indent="0" lvl="0" marL="0" marR="0" rtl="0" algn="l">
              <a:lnSpc>
                <a:spcPct val="100000"/>
              </a:lnSpc>
              <a:spcBef>
                <a:spcPts val="0"/>
              </a:spcBef>
              <a:spcAft>
                <a:spcPts val="0"/>
              </a:spcAft>
              <a:buClr>
                <a:schemeClr val="dk1"/>
              </a:buClr>
              <a:buSzPts val="1100"/>
              <a:buFont typeface="Arial"/>
              <a:buNone/>
            </a:pPr>
            <a:r>
              <a:t/>
            </a:r>
            <a:endParaRPr b="1"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Connect the bsk database by changing database config in .env </a:t>
            </a:r>
            <a:endParaRPr sz="2000">
              <a:solidFill>
                <a:schemeClr val="dk1"/>
              </a:solidFill>
            </a:endParaRPr>
          </a:p>
          <a:p>
            <a:pPr indent="-355600" lvl="0" marL="457200" marR="0" rtl="0" algn="l">
              <a:lnSpc>
                <a:spcPct val="115000"/>
              </a:lnSpc>
              <a:spcBef>
                <a:spcPts val="0"/>
              </a:spcBef>
              <a:spcAft>
                <a:spcPts val="0"/>
              </a:spcAft>
              <a:buClr>
                <a:schemeClr val="dk1"/>
              </a:buClr>
              <a:buSzPts val="2000"/>
              <a:buFont typeface="Arial"/>
              <a:buChar char="●"/>
            </a:pPr>
            <a:r>
              <a:rPr lang="en-US" sz="2000">
                <a:solidFill>
                  <a:schemeClr val="dk1"/>
                </a:solidFill>
              </a:rPr>
              <a:t>Intermediate outputs (e.g., clustered data, similarity results) should be stored in a </a:t>
            </a:r>
            <a:r>
              <a:rPr b="1" lang="en-US" sz="2000">
                <a:solidFill>
                  <a:schemeClr val="dk1"/>
                </a:solidFill>
              </a:rPr>
              <a:t>database or object storage</a:t>
            </a:r>
            <a:r>
              <a:rPr lang="en-US" sz="2000">
                <a:solidFill>
                  <a:schemeClr val="dk1"/>
                </a:solidFill>
              </a:rPr>
              <a:t>, or as temporary CSVs.</a:t>
            </a:r>
            <a:r>
              <a:rPr lang="en-US" sz="2000">
                <a:solidFill>
                  <a:schemeClr val="dk1"/>
                </a:solidFill>
              </a:rPr>
              <a:t>.</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US" sz="2000" u="none" cap="none" strike="noStrike">
                <a:solidFill>
                  <a:schemeClr val="dk1"/>
                </a:solidFill>
                <a:latin typeface="Arial"/>
                <a:ea typeface="Arial"/>
                <a:cs typeface="Arial"/>
                <a:sym typeface="Arial"/>
              </a:rPr>
              <a:t>2.Backend Hosting</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Host the FastAPI-based backend on BSK’s internal server (no GPU required; works on CPU).</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Secure the backend using authentication if exposed publicly or over a network.</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US" sz="2000" u="none" cap="none" strike="noStrike">
                <a:solidFill>
                  <a:schemeClr val="dk1"/>
                </a:solidFill>
                <a:latin typeface="Arial"/>
                <a:ea typeface="Arial"/>
                <a:cs typeface="Arial"/>
                <a:sym typeface="Arial"/>
              </a:rPr>
              <a:t>3.Frontend/Channel Integration</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For internal use: Develop a frontend interface and connect to backend APIs.</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For external communication (e.g., WhatsApp), extract and format API responses as user-facing messages.</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grpSp>
        <p:nvGrpSpPr>
          <p:cNvPr id="324" name="Google Shape;324;p36"/>
          <p:cNvGrpSpPr/>
          <p:nvPr/>
        </p:nvGrpSpPr>
        <p:grpSpPr>
          <a:xfrm>
            <a:off x="128206" y="275959"/>
            <a:ext cx="14271735" cy="817880"/>
            <a:chOff x="0" y="59087"/>
            <a:chExt cx="12192000" cy="630112"/>
          </a:xfrm>
        </p:grpSpPr>
        <p:pic>
          <p:nvPicPr>
            <p:cNvPr id="325" name="Google Shape;325;p36"/>
            <p:cNvPicPr preferRelativeResize="0"/>
            <p:nvPr/>
          </p:nvPicPr>
          <p:blipFill rotWithShape="1">
            <a:blip r:embed="rId3">
              <a:alphaModFix/>
            </a:blip>
            <a:srcRect b="0" l="0" r="0" t="0"/>
            <a:stretch/>
          </p:blipFill>
          <p:spPr>
            <a:xfrm>
              <a:off x="11291089" y="112448"/>
              <a:ext cx="829660" cy="495441"/>
            </a:xfrm>
            <a:prstGeom prst="rect">
              <a:avLst/>
            </a:prstGeom>
            <a:noFill/>
            <a:ln>
              <a:noFill/>
            </a:ln>
          </p:spPr>
        </p:pic>
        <p:cxnSp>
          <p:nvCxnSpPr>
            <p:cNvPr id="326" name="Google Shape;326;p36"/>
            <p:cNvCxnSpPr/>
            <p:nvPr/>
          </p:nvCxnSpPr>
          <p:spPr>
            <a:xfrm>
              <a:off x="1588" y="689199"/>
              <a:ext cx="12188825" cy="0"/>
            </a:xfrm>
            <a:prstGeom prst="straightConnector1">
              <a:avLst/>
            </a:prstGeom>
            <a:noFill/>
            <a:ln cap="flat" cmpd="sng" w="57150">
              <a:solidFill>
                <a:srgbClr val="00B050"/>
              </a:solidFill>
              <a:prstDash val="solid"/>
              <a:miter lim="800000"/>
              <a:headEnd len="sm" w="sm" type="none"/>
              <a:tailEnd len="sm" w="sm" type="none"/>
            </a:ln>
          </p:spPr>
        </p:cxnSp>
        <p:sp>
          <p:nvSpPr>
            <p:cNvPr id="327" name="Google Shape;327;p36"/>
            <p:cNvSpPr txBox="1"/>
            <p:nvPr/>
          </p:nvSpPr>
          <p:spPr>
            <a:xfrm>
              <a:off x="0" y="90471"/>
              <a:ext cx="12192000" cy="403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2060"/>
                  </a:solidFill>
                  <a:latin typeface="ADLaM Display"/>
                  <a:ea typeface="ADLaM Display"/>
                  <a:cs typeface="ADLaM Display"/>
                  <a:sym typeface="ADLaM Display"/>
                </a:rPr>
                <a:t>Future Scope and Conclusion</a:t>
              </a:r>
              <a:endParaRPr b="0" i="0" sz="1400" u="none" cap="none" strike="noStrike">
                <a:solidFill>
                  <a:srgbClr val="000000"/>
                </a:solidFill>
                <a:latin typeface="Arial"/>
                <a:ea typeface="Arial"/>
                <a:cs typeface="Arial"/>
                <a:sym typeface="Arial"/>
              </a:endParaRPr>
            </a:p>
          </p:txBody>
        </p:sp>
        <p:pic>
          <p:nvPicPr>
            <p:cNvPr id="328" name="Google Shape;328;p36"/>
            <p:cNvPicPr preferRelativeResize="0"/>
            <p:nvPr/>
          </p:nvPicPr>
          <p:blipFill rotWithShape="1">
            <a:blip r:embed="rId4">
              <a:alphaModFix/>
            </a:blip>
            <a:srcRect b="0" l="0" r="0" t="0"/>
            <a:stretch/>
          </p:blipFill>
          <p:spPr>
            <a:xfrm>
              <a:off x="111705" y="59087"/>
              <a:ext cx="403231" cy="526827"/>
            </a:xfrm>
            <a:prstGeom prst="rect">
              <a:avLst/>
            </a:prstGeom>
            <a:noFill/>
            <a:ln>
              <a:noFill/>
            </a:ln>
          </p:spPr>
        </p:pic>
      </p:grpSp>
      <p:pic>
        <p:nvPicPr>
          <p:cNvPr id="329" name="Google Shape;329;p36"/>
          <p:cNvPicPr preferRelativeResize="0"/>
          <p:nvPr/>
        </p:nvPicPr>
        <p:blipFill rotWithShape="1">
          <a:blip r:embed="rId5">
            <a:alphaModFix/>
          </a:blip>
          <a:srcRect b="0" l="0" r="0" t="0"/>
          <a:stretch/>
        </p:blipFill>
        <p:spPr>
          <a:xfrm>
            <a:off x="13406028" y="6947451"/>
            <a:ext cx="993913" cy="993913"/>
          </a:xfrm>
          <a:prstGeom prst="rect">
            <a:avLst/>
          </a:prstGeom>
          <a:noFill/>
          <a:ln>
            <a:noFill/>
          </a:ln>
        </p:spPr>
      </p:pic>
      <p:sp>
        <p:nvSpPr>
          <p:cNvPr id="330" name="Google Shape;330;p36"/>
          <p:cNvSpPr txBox="1"/>
          <p:nvPr/>
        </p:nvSpPr>
        <p:spPr>
          <a:xfrm>
            <a:off x="494973" y="2112431"/>
            <a:ext cx="6245100" cy="3140100"/>
          </a:xfrm>
          <a:prstGeom prst="rect">
            <a:avLst/>
          </a:prstGeom>
          <a:noFill/>
          <a:ln>
            <a:noFill/>
          </a:ln>
        </p:spPr>
        <p:txBody>
          <a:bodyPr anchorCtr="0" anchor="ctr" bIns="45700" lIns="91425" spcFirstLastPara="1" rIns="91425" wrap="square" tIns="45700">
            <a:spAutoFit/>
          </a:bodyPr>
          <a:lstStyle/>
          <a:p>
            <a:pPr indent="0" lvl="0" marL="0" rtl="0" algn="l">
              <a:spcBef>
                <a:spcPts val="0"/>
              </a:spcBef>
              <a:spcAft>
                <a:spcPts val="0"/>
              </a:spcAft>
              <a:buClr>
                <a:schemeClr val="dk1"/>
              </a:buClr>
              <a:buSzPts val="2200"/>
              <a:buFont typeface="Arial"/>
              <a:buNone/>
            </a:pPr>
            <a:r>
              <a:t/>
            </a:r>
            <a:endParaRPr/>
          </a:p>
          <a:p>
            <a:pPr indent="0" lvl="0" marL="0" marR="0" rtl="0" algn="l">
              <a:lnSpc>
                <a:spcPct val="100000"/>
              </a:lnSpc>
              <a:spcBef>
                <a:spcPts val="0"/>
              </a:spcBef>
              <a:spcAft>
                <a:spcPts val="0"/>
              </a:spcAft>
              <a:buClr>
                <a:schemeClr val="dk1"/>
              </a:buClr>
              <a:buSzPts val="2200"/>
              <a:buFont typeface="Arial"/>
              <a:buNone/>
            </a:pPr>
            <a:r>
              <a:rPr b="1" i="0" lang="en-US" sz="2300" u="none" cap="none" strike="noStrike">
                <a:solidFill>
                  <a:schemeClr val="dk1"/>
                </a:solidFill>
                <a:latin typeface="Arial"/>
                <a:ea typeface="Arial"/>
                <a:cs typeface="Arial"/>
                <a:sym typeface="Arial"/>
              </a:rPr>
              <a:t>Future Scope</a:t>
            </a:r>
            <a:endParaRPr b="1"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a:buNone/>
            </a:pPr>
            <a:r>
              <a:t/>
            </a:r>
            <a:endParaRPr b="1" sz="2300">
              <a:solidFill>
                <a:schemeClr val="dk1"/>
              </a:solidFill>
            </a:endParaRPr>
          </a:p>
          <a:p>
            <a:pPr indent="-127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Performance </a:t>
            </a:r>
            <a:r>
              <a:rPr b="1" lang="en-US" sz="2000">
                <a:solidFill>
                  <a:schemeClr val="dk1"/>
                </a:solidFill>
              </a:rPr>
              <a:t>Monitoring</a:t>
            </a:r>
            <a:r>
              <a:rPr b="1" i="0" lang="en-US" sz="2000" u="none" cap="none" strike="noStrike">
                <a:solidFill>
                  <a:schemeClr val="dk1"/>
                </a:solidFill>
                <a:latin typeface="Arial"/>
                <a:ea typeface="Arial"/>
                <a:cs typeface="Arial"/>
                <a:sym typeface="Arial"/>
              </a:rPr>
              <a:t>:</a:t>
            </a:r>
            <a:r>
              <a:rPr b="0" i="0" lang="en-US" sz="2000" u="none" cap="none" strike="noStrike">
                <a:solidFill>
                  <a:schemeClr val="dk1"/>
                </a:solidFill>
                <a:latin typeface="Arial"/>
                <a:ea typeface="Arial"/>
                <a:cs typeface="Arial"/>
                <a:sym typeface="Arial"/>
              </a:rPr>
              <a:t> Track selected models and actual services availed to assess effectiveness.</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2000" u="none" cap="none" strike="noStrike">
              <a:solidFill>
                <a:schemeClr val="dk1"/>
              </a:solidFill>
              <a:latin typeface="Arial"/>
              <a:ea typeface="Arial"/>
              <a:cs typeface="Arial"/>
              <a:sym typeface="Arial"/>
            </a:endParaRPr>
          </a:p>
          <a:p>
            <a:pPr indent="-127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Scalability:</a:t>
            </a:r>
            <a:r>
              <a:rPr lang="en-US" sz="2000">
                <a:solidFill>
                  <a:schemeClr val="dk1"/>
                </a:solidFill>
              </a:rPr>
              <a:t> Make it more scalable by by using scalable cloud services and caching.</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1" name="Google Shape;331;p36"/>
          <p:cNvSpPr txBox="1"/>
          <p:nvPr/>
        </p:nvSpPr>
        <p:spPr>
          <a:xfrm>
            <a:off x="7264073" y="2112431"/>
            <a:ext cx="7001400" cy="357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Arial"/>
              <a:buNone/>
            </a:pPr>
            <a:r>
              <a:rPr b="1" i="0" lang="en-US" sz="2400" u="none" cap="none" strike="noStrike">
                <a:solidFill>
                  <a:schemeClr val="dk1"/>
                </a:solidFill>
                <a:latin typeface="Arial"/>
                <a:ea typeface="Arial"/>
                <a:cs typeface="Arial"/>
                <a:sym typeface="Arial"/>
              </a:rPr>
              <a:t>Conclusion</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Arial"/>
              <a:ea typeface="Arial"/>
              <a:cs typeface="Arial"/>
              <a:sym typeface="Arial"/>
            </a:endParaRPr>
          </a:p>
          <a:p>
            <a:pPr indent="-127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AI/ML-powered personalized recommendations enhance citizen awareness and service access at BSKs.</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2000" u="none" cap="none" strike="noStrike">
              <a:solidFill>
                <a:schemeClr val="dk1"/>
              </a:solidFill>
              <a:latin typeface="Arial"/>
              <a:ea typeface="Arial"/>
              <a:cs typeface="Arial"/>
              <a:sym typeface="Arial"/>
            </a:endParaRPr>
          </a:p>
          <a:p>
            <a:pPr indent="-127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Improves welfare outreach, reduces repeat visits, and drives smarter public service delivery.</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2000" u="none" cap="none" strike="noStrike">
              <a:solidFill>
                <a:schemeClr val="dk1"/>
              </a:solidFill>
              <a:latin typeface="Arial"/>
              <a:ea typeface="Arial"/>
              <a:cs typeface="Arial"/>
              <a:sym typeface="Arial"/>
            </a:endParaRPr>
          </a:p>
          <a:p>
            <a:pPr indent="-127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Provides a scalable, real-time solution for data-driven governance in West Bengal.</a:t>
            </a:r>
            <a:endParaRPr b="0" i="0" sz="20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37"/>
          <p:cNvPicPr preferRelativeResize="0"/>
          <p:nvPr/>
        </p:nvPicPr>
        <p:blipFill rotWithShape="1">
          <a:blip r:embed="rId3">
            <a:alphaModFix/>
          </a:blip>
          <a:srcRect b="0" l="0" r="0" t="0"/>
          <a:stretch/>
        </p:blipFill>
        <p:spPr>
          <a:xfrm>
            <a:off x="4207699" y="1862452"/>
            <a:ext cx="5987303" cy="500898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